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48" name="Shape 148"/>
          <p:cNvSpPr/>
          <p:nvPr>
            <p:ph type="sldImg"/>
          </p:nvPr>
        </p:nvSpPr>
        <p:spPr>
          <a:xfrm>
            <a:off x="1143000" y="685800"/>
            <a:ext cx="4572000" cy="3429000"/>
          </a:xfrm>
          <a:prstGeom prst="rect">
            <a:avLst/>
          </a:prstGeom>
        </p:spPr>
        <p:txBody>
          <a:bodyPr/>
          <a:lstStyle/>
          <a:p>
            <a:pPr/>
          </a:p>
        </p:txBody>
      </p:sp>
      <p:sp>
        <p:nvSpPr>
          <p:cNvPr id="149" name="Shape 14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Line"/>
          <p:cNvSpPr/>
          <p:nvPr/>
        </p:nvSpPr>
        <p:spPr>
          <a:xfrm flipV="1">
            <a:off x="-1" y="6465261"/>
            <a:ext cx="24384002" cy="1"/>
          </a:xfrm>
          <a:prstGeom prst="line">
            <a:avLst/>
          </a:prstGeom>
          <a:ln w="25400" cap="rnd">
            <a:solidFill>
              <a:srgbClr val="000000"/>
            </a:solidFill>
            <a:custDash>
              <a:ds d="100000" sp="200000"/>
            </a:custDash>
          </a:ln>
        </p:spPr>
        <p:txBody>
          <a:bodyPr lIns="50800" tIns="50800" rIns="50800" bIns="50800" anchor="ctr"/>
          <a:lstStyle/>
          <a:p>
            <a:pPr/>
          </a:p>
        </p:txBody>
      </p:sp>
      <p:sp>
        <p:nvSpPr>
          <p:cNvPr id="152"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153" name="Rectangle"/>
          <p:cNvSpPr/>
          <p:nvPr/>
        </p:nvSpPr>
        <p:spPr>
          <a:xfrm>
            <a:off x="12330779"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54" name="Rectangle"/>
          <p:cNvSpPr/>
          <p:nvPr/>
        </p:nvSpPr>
        <p:spPr>
          <a:xfrm>
            <a:off x="559316" y="102314"/>
            <a:ext cx="11488470"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55" name="Medical area location and emergency evacuation plan.…"/>
          <p:cNvSpPr txBox="1"/>
          <p:nvPr/>
        </p:nvSpPr>
        <p:spPr>
          <a:xfrm>
            <a:off x="668868" y="991259"/>
            <a:ext cx="5588001" cy="275133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Medical area location and emergency evacuation plan.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Immediate call-off scenarios:</a:t>
            </a:r>
          </a:p>
          <a:p>
            <a:pPr lvl="1" marL="317500" indent="-190500" algn="l">
              <a:buSzPct val="100000"/>
              <a:buChar char="•"/>
              <a:defRPr sz="1400">
                <a:solidFill>
                  <a:srgbClr val="000000"/>
                </a:solidFill>
                <a:latin typeface="Lucida Grande"/>
                <a:ea typeface="Lucida Grande"/>
                <a:cs typeface="Lucida Grande"/>
                <a:sym typeface="Lucida Grande"/>
              </a:defRPr>
            </a:pPr>
            <a:r>
              <a:t>Medics unavailable to observe gameplay.</a:t>
            </a:r>
          </a:p>
          <a:p>
            <a:pPr lvl="1" marL="317500" indent="-190500" algn="l">
              <a:buSzPct val="100000"/>
              <a:buChar char="•"/>
              <a:defRPr sz="1400">
                <a:solidFill>
                  <a:srgbClr val="000000"/>
                </a:solidFill>
                <a:latin typeface="Lucida Grande"/>
                <a:ea typeface="Lucida Grande"/>
                <a:cs typeface="Lucida Grande"/>
                <a:sym typeface="Lucida Grande"/>
              </a:defRPr>
            </a:pPr>
            <a:r>
              <a:t>Official clock or score failure/freeze.</a:t>
            </a:r>
          </a:p>
          <a:p>
            <a:pPr lvl="1" marL="317500" indent="-190500" algn="l">
              <a:buSzPct val="100000"/>
              <a:buChar char="•"/>
              <a:defRPr sz="1400">
                <a:solidFill>
                  <a:srgbClr val="000000"/>
                </a:solidFill>
                <a:latin typeface="Lucida Grande"/>
                <a:ea typeface="Lucida Grande"/>
                <a:cs typeface="Lucida Grande"/>
                <a:sym typeface="Lucida Grande"/>
              </a:defRPr>
            </a:pPr>
            <a:r>
              <a:t>Obvious player injury or any bleeding.</a:t>
            </a:r>
          </a:p>
          <a:p>
            <a:pPr lvl="1" marL="317500" indent="-190500" algn="l">
              <a:buSzPct val="100000"/>
              <a:buChar char="•"/>
              <a:defRPr sz="1400">
                <a:solidFill>
                  <a:srgbClr val="000000"/>
                </a:solidFill>
                <a:latin typeface="Lucida Grande"/>
                <a:ea typeface="Lucida Grande"/>
                <a:cs typeface="Lucida Grande"/>
                <a:sym typeface="Lucida Grande"/>
              </a:defRPr>
            </a:pPr>
            <a:r>
              <a:t>Loss of personal safety gear (mouthguard, helmet, etc.).</a:t>
            </a:r>
          </a:p>
          <a:p>
            <a:pPr lvl="1" marL="317500" indent="-190500" algn="l">
              <a:buSzPct val="100000"/>
              <a:buChar char="•"/>
              <a:defRPr sz="1400">
                <a:solidFill>
                  <a:srgbClr val="000000"/>
                </a:solidFill>
                <a:latin typeface="Lucida Grande"/>
                <a:ea typeface="Lucida Grande"/>
                <a:cs typeface="Lucida Grande"/>
                <a:sym typeface="Lucida Grande"/>
              </a:defRPr>
            </a:pPr>
            <a:r>
              <a:t>Possible player injury, without affirmative response to the question, “Can you continue?”</a:t>
            </a:r>
          </a:p>
          <a:p>
            <a:pPr lvl="1" marL="317500" indent="-190500" algn="l">
              <a:buSzPct val="100000"/>
              <a:buChar char="•"/>
              <a:defRPr sz="1400">
                <a:solidFill>
                  <a:srgbClr val="000000"/>
                </a:solidFill>
                <a:latin typeface="Lucida Grande"/>
                <a:ea typeface="Lucida Grande"/>
                <a:cs typeface="Lucida Grande"/>
                <a:sym typeface="Lucida Grande"/>
              </a:defRPr>
            </a:pPr>
            <a:r>
              <a:t>Player or non-player forcefully strikes their head on the ground or appears concussed.</a:t>
            </a:r>
          </a:p>
          <a:p>
            <a:pPr lvl="1" marL="317500" indent="-190500" algn="l">
              <a:buSzPct val="100000"/>
              <a:buChar char="•"/>
              <a:defRPr sz="1400">
                <a:solidFill>
                  <a:srgbClr val="000000"/>
                </a:solidFill>
                <a:latin typeface="Lucida Grande"/>
                <a:ea typeface="Lucida Grande"/>
                <a:cs typeface="Lucida Grande"/>
                <a:sym typeface="Lucida Grande"/>
              </a:defRPr>
            </a:pPr>
            <a:r>
              <a:t>Any </a:t>
            </a:r>
            <a:r>
              <a:rPr u="sng"/>
              <a:t>non-player</a:t>
            </a:r>
            <a:r>
              <a:t> goes to the ground and does not immediately and actively return upright.</a:t>
            </a:r>
          </a:p>
        </p:txBody>
      </p:sp>
      <p:sp>
        <p:nvSpPr>
          <p:cNvPr id="156" name="Game Administration"/>
          <p:cNvSpPr txBox="1"/>
          <p:nvPr/>
        </p:nvSpPr>
        <p:spPr>
          <a:xfrm>
            <a:off x="2235071" y="621836"/>
            <a:ext cx="2455595"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 Administration</a:t>
            </a:r>
          </a:p>
        </p:txBody>
      </p:sp>
      <p:sp>
        <p:nvSpPr>
          <p:cNvPr id="157" name="Before Intermission:…"/>
          <p:cNvSpPr txBox="1"/>
          <p:nvPr/>
        </p:nvSpPr>
        <p:spPr>
          <a:xfrm>
            <a:off x="6346512" y="991259"/>
            <a:ext cx="5591723" cy="3221292"/>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Before Intermission</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HR</a:t>
            </a:r>
            <a:r>
              <a:t>: Ask teams if they want to use their OR.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JRs</a:t>
            </a:r>
            <a:r>
              <a:t>: Check in with SKs and inform me when complete.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JT</a:t>
            </a:r>
            <a:r>
              <a:t>: Wait at least 30 seconds and for HNSO instructions before ending a period or declaring a final score.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During Intermission</a:t>
            </a:r>
            <a:r>
              <a:t>:</a:t>
            </a:r>
          </a:p>
          <a:p>
            <a:pPr marL="317500" indent="-190500" algn="l">
              <a:buSzPct val="100000"/>
              <a:buChar char="•"/>
              <a:defRPr sz="1400">
                <a:solidFill>
                  <a:srgbClr val="000000"/>
                </a:solidFill>
                <a:latin typeface="Lucida Grande"/>
                <a:ea typeface="Lucida Grande"/>
                <a:cs typeface="Lucida Grande"/>
                <a:sym typeface="Lucida Grande"/>
              </a:defRPr>
            </a:pPr>
            <a:r>
              <a:rPr b="1"/>
              <a:t>HR</a:t>
            </a:r>
            <a:r>
              <a:t>: check in with coaches during intermission.</a:t>
            </a:r>
          </a:p>
          <a:p>
            <a:pPr marL="317500" indent="-190500" algn="l">
              <a:buSzPct val="100000"/>
              <a:buChar char="•"/>
              <a:defRPr sz="1400">
                <a:solidFill>
                  <a:srgbClr val="000000"/>
                </a:solidFill>
                <a:latin typeface="Lucida Grande"/>
                <a:ea typeface="Lucida Grande"/>
                <a:cs typeface="Lucida Grande"/>
                <a:sym typeface="Lucida Grande"/>
              </a:defRPr>
            </a:pPr>
            <a:r>
              <a:rPr b="1"/>
              <a:t>All Officials</a:t>
            </a:r>
            <a:r>
              <a:t> meet at the </a:t>
            </a:r>
            <a:r>
              <a:rPr u="sng"/>
              <a:t>designated area</a:t>
            </a:r>
            <a:r>
              <a:t> at 5:00 remaining on the intermission clock.</a:t>
            </a:r>
          </a:p>
          <a:p>
            <a:pPr lvl="1" marL="317500" indent="-190500" algn="l">
              <a:buSzPct val="100000"/>
              <a:buChar char="•"/>
              <a:defRPr sz="1400">
                <a:solidFill>
                  <a:srgbClr val="000000"/>
                </a:solidFill>
                <a:latin typeface="Lucida Grande"/>
                <a:ea typeface="Lucida Grande"/>
                <a:cs typeface="Lucida Grande"/>
                <a:sym typeface="Lucida Grande"/>
              </a:defRPr>
            </a:pPr>
            <a:r>
              <a:rPr b="1"/>
              <a:t>HNSO &amp; HR</a:t>
            </a:r>
            <a:r>
              <a:t>: check with the PBM to confirm all required players report before starting period 2.</a:t>
            </a:r>
          </a:p>
          <a:p>
            <a:pPr marL="254000" indent="-254000" algn="l">
              <a:buSzPct val="100000"/>
              <a:buAutoNum type="arabicPeriod" startAt="3"/>
              <a:defRPr sz="1400">
                <a:solidFill>
                  <a:srgbClr val="000000"/>
                </a:solidFill>
                <a:latin typeface="Lucida Grande"/>
                <a:ea typeface="Lucida Grande"/>
                <a:cs typeface="Lucida Grande"/>
                <a:sym typeface="Lucida Grande"/>
              </a:defRPr>
            </a:pPr>
            <a:r>
              <a:rPr b="1"/>
              <a:t>After Period 2</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HNSO</a:t>
            </a:r>
            <a:r>
              <a:t>: Declare the score final when ready, and instruct the SBO and JT to take the appropriate actions.</a:t>
            </a:r>
          </a:p>
        </p:txBody>
      </p:sp>
      <p:sp>
        <p:nvSpPr>
          <p:cNvPr id="158" name="End-of-Period/Game Procedures"/>
          <p:cNvSpPr txBox="1"/>
          <p:nvPr/>
        </p:nvSpPr>
        <p:spPr>
          <a:xfrm>
            <a:off x="7251529" y="621836"/>
            <a:ext cx="378168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End-of-Period/Game Procedures</a:t>
            </a:r>
          </a:p>
        </p:txBody>
      </p:sp>
      <p:sp>
        <p:nvSpPr>
          <p:cNvPr id="159" name="IPRs:…"/>
          <p:cNvSpPr txBox="1"/>
          <p:nvPr/>
        </p:nvSpPr>
        <p:spPr>
          <a:xfrm>
            <a:off x="668868" y="4256662"/>
            <a:ext cx="5588001" cy="9218508"/>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IPRs:</a:t>
            </a:r>
            <a:endParaRPr b="1"/>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All pack definition and </a:t>
            </a:r>
            <a:r>
              <a:rPr u="sng"/>
              <a:t>reformation/return</a:t>
            </a:r>
            <a:r>
              <a:t> penalties.</a:t>
            </a:r>
          </a:p>
          <a:p>
            <a:pPr lvl="1" marL="317500" indent="-190500" algn="l">
              <a:buSzPct val="100000"/>
              <a:buChar char="•"/>
              <a:defRPr sz="1400">
                <a:solidFill>
                  <a:srgbClr val="000000"/>
                </a:solidFill>
                <a:latin typeface="Lucida Grande"/>
                <a:ea typeface="Lucida Grande"/>
                <a:cs typeface="Lucida Grande"/>
                <a:sym typeface="Lucida Grande"/>
              </a:defRPr>
            </a:pPr>
            <a:r>
              <a:t>Other officials may issue </a:t>
            </a:r>
            <a:r>
              <a:rPr u="sng"/>
              <a:t>illegal contact</a:t>
            </a:r>
            <a:r>
              <a:t> penalties for OOP blocks when there is game impact (down or OOB).</a:t>
            </a:r>
          </a:p>
          <a:p>
            <a:pPr lvl="1" marL="317500" indent="-190500" algn="l">
              <a:buSzPct val="100000"/>
              <a:buChar char="•"/>
              <a:defRPr sz="1400">
                <a:solidFill>
                  <a:srgbClr val="000000"/>
                </a:solidFill>
                <a:latin typeface="Lucida Grande"/>
                <a:ea typeface="Lucida Grande"/>
                <a:cs typeface="Lucida Grande"/>
                <a:sym typeface="Lucida Grande"/>
              </a:defRPr>
            </a:pPr>
            <a:r>
              <a:t>Continued blocking OOP w/o impact is insufficient for illegal contact, although you may point at players who are candidates for reformation/return penalties.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maximum trip points in this game is </a:t>
            </a:r>
            <a:r>
              <a:rPr u="sng"/>
              <a:t>4</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Check-in with SKs pre-game and after each period.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Observe jammers to and from the penalty box to monitor for illegal exit/reentry, illegal contact, etc.</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Follow jammers to their bench after each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Report points at the 4th whistle whenever possible.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points aren’t earned, know which opposing player's numbers weren’t passed.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Check for NOTT points as quickly as possible.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star pass is incomplete, stay with your jammer and notify IPRs.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your jammer leaves the track due to injury, equipment failure, etc., keep your eyes on them and notify the IPRs so we can end the jam if the other jammer is penalized or leaves the track.</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OPRs: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Do not try to race a fast pack.</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Drop </a:t>
            </a:r>
            <a:r>
              <a:rPr u="sng"/>
              <a:t>way</a:t>
            </a:r>
            <a:r>
              <a:t> early, and </a:t>
            </a:r>
            <a:r>
              <a:rPr u="sng"/>
              <a:t>commit</a:t>
            </a:r>
            <a:r>
              <a:t> to dropping in derby and non-derby directions.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pack is moving and you are behind your wall, you’ve already waited too long to drop.</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Demonstrate your ability to drop and restore OPR coverage.</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Start a jam without me when JRs and IPR are in position.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Call all administrative OTOs at 25 seconds.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Call all injury OTOs immediately.</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SBO &amp; SKs: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Notify me immediately if you believe you may have a score discrepancy.</a:t>
            </a:r>
          </a:p>
          <a:p>
            <a:pPr marL="228600" indent="-2286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ALTR:</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Attend ORs and share preliminary details with the crew.</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Observe officials and gameplay.</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Be prepared to provide feedback.</a:t>
            </a:r>
          </a:p>
        </p:txBody>
      </p:sp>
      <p:sp>
        <p:nvSpPr>
          <p:cNvPr id="160" name="Position-Specific Instructions"/>
          <p:cNvSpPr txBox="1"/>
          <p:nvPr/>
        </p:nvSpPr>
        <p:spPr>
          <a:xfrm>
            <a:off x="1689169" y="388142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Position-Specific Instructions</a:t>
            </a:r>
          </a:p>
        </p:txBody>
      </p:sp>
      <p:sp>
        <p:nvSpPr>
          <p:cNvPr id="161" name="Make every effort to keep players on track.…"/>
          <p:cNvSpPr txBox="1"/>
          <p:nvPr/>
        </p:nvSpPr>
        <p:spPr>
          <a:xfrm>
            <a:off x="6346511" y="9678057"/>
            <a:ext cx="5591723" cy="3790180"/>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Make </a:t>
            </a:r>
            <a:r>
              <a:rPr u="sng"/>
              <a:t>every</a:t>
            </a:r>
            <a:r>
              <a:t> effort to keep players on track.</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For any penalty, be prepared to describe the action, initiation, and impact, including player numbers.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When in doubt, default to a no-call and discuss the action with your peers after a jam.</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If you have any information that might refute another official’s penalty, direct the player to remain on track.</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Call penalties within your respective zones, and discuss out-of-zone penalties with your peers during lineup time.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Use clear, slow, deliberate verbal and visual cues.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My bar for skating OOB and intentionally adopting an illegal position penalties is </a:t>
            </a:r>
            <a:r>
              <a:rPr u="sng"/>
              <a:t>high</a:t>
            </a:r>
            <a:r>
              <a:t> - use only when players </a:t>
            </a:r>
            <a:r>
              <a:rPr u="sng"/>
              <a:t>egregiously avoid playing derby</a:t>
            </a:r>
            <a:r>
              <a:t>.</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Players are in-bounds until they have more than a full arm OOB, up to the collarbone.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Do not immediately issue misconduct penalties for potentially expellable actions, and inform me ASAP.</a:t>
            </a:r>
          </a:p>
        </p:txBody>
      </p:sp>
      <p:sp>
        <p:nvSpPr>
          <p:cNvPr id="162" name="SO Penalties"/>
          <p:cNvSpPr txBox="1"/>
          <p:nvPr/>
        </p:nvSpPr>
        <p:spPr>
          <a:xfrm>
            <a:off x="7368674" y="9331011"/>
            <a:ext cx="3547398" cy="3455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SO Penalties</a:t>
            </a:r>
          </a:p>
        </p:txBody>
      </p:sp>
      <p:sp>
        <p:nvSpPr>
          <p:cNvPr id="163" name="HNSO:…"/>
          <p:cNvSpPr txBox="1"/>
          <p:nvPr/>
        </p:nvSpPr>
        <p:spPr>
          <a:xfrm>
            <a:off x="6346511" y="7025047"/>
            <a:ext cx="5591723" cy="229374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HNSO:</a:t>
            </a:r>
          </a:p>
          <a:p>
            <a:pPr lvl="1" marL="317500" indent="-190500" algn="l">
              <a:buSzPct val="100000"/>
              <a:buChar char="•"/>
              <a:defRPr sz="1400">
                <a:solidFill>
                  <a:srgbClr val="000000"/>
                </a:solidFill>
                <a:latin typeface="Lucida Grande"/>
                <a:ea typeface="Lucida Grande"/>
                <a:cs typeface="Lucida Grande"/>
                <a:sym typeface="Lucida Grande"/>
              </a:defRPr>
            </a:pPr>
            <a:r>
              <a:t>Issue illegal exit penalties when appropriate.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JT:</a:t>
            </a:r>
          </a:p>
          <a:p>
            <a:pPr lvl="1" marL="317500" indent="-190500" algn="l">
              <a:buSzPct val="100000"/>
              <a:buChar char="•"/>
              <a:defRPr sz="1400">
                <a:solidFill>
                  <a:srgbClr val="000000"/>
                </a:solidFill>
                <a:latin typeface="Lucida Grande"/>
                <a:ea typeface="Lucida Grande"/>
                <a:cs typeface="Lucida Grande"/>
                <a:sym typeface="Lucida Grande"/>
              </a:defRPr>
            </a:pPr>
            <a:r>
              <a:t>Issue delay of game penalties when appropriate.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PBM:</a:t>
            </a:r>
          </a:p>
          <a:p>
            <a:pPr lvl="1" marL="317500" indent="-190500" algn="l">
              <a:buSzPct val="100000"/>
              <a:buChar char="•"/>
              <a:defRPr sz="1400">
                <a:solidFill>
                  <a:srgbClr val="000000"/>
                </a:solidFill>
                <a:latin typeface="Lucida Grande"/>
                <a:ea typeface="Lucida Grande"/>
                <a:cs typeface="Lucida Grande"/>
                <a:sym typeface="Lucida Grande"/>
              </a:defRPr>
            </a:pPr>
            <a:r>
              <a:t>Issue illegal procedure penalties for leaving too soon, equipment violations, etc.</a:t>
            </a:r>
          </a:p>
          <a:p>
            <a:pPr lvl="1" marL="317500" indent="-190500" algn="l">
              <a:buSzPct val="100000"/>
              <a:buChar char="•"/>
              <a:defRPr sz="1400">
                <a:solidFill>
                  <a:srgbClr val="000000"/>
                </a:solidFill>
                <a:latin typeface="Lucida Grande"/>
                <a:ea typeface="Lucida Grande"/>
                <a:cs typeface="Lucida Grande"/>
                <a:sym typeface="Lucida Grande"/>
              </a:defRPr>
            </a:pPr>
            <a:r>
              <a:t>Make sure I am aware if you issue misconduct penalties.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All other positions:</a:t>
            </a:r>
          </a:p>
          <a:p>
            <a:pPr lvl="1" marL="317500" indent="-190500" algn="l">
              <a:buSzPct val="100000"/>
              <a:buChar char="•"/>
              <a:defRPr sz="1400">
                <a:solidFill>
                  <a:srgbClr val="000000"/>
                </a:solidFill>
                <a:latin typeface="Lucida Grande"/>
                <a:ea typeface="Lucida Grande"/>
                <a:cs typeface="Lucida Grande"/>
                <a:sym typeface="Lucida Grande"/>
              </a:defRPr>
            </a:pPr>
            <a:r>
              <a:t>If you see something, say something.</a:t>
            </a:r>
          </a:p>
        </p:txBody>
      </p:sp>
      <p:sp>
        <p:nvSpPr>
          <p:cNvPr id="164" name="NSO Penalties"/>
          <p:cNvSpPr txBox="1"/>
          <p:nvPr/>
        </p:nvSpPr>
        <p:spPr>
          <a:xfrm>
            <a:off x="7368674" y="6679098"/>
            <a:ext cx="354739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NSO Penalties</a:t>
            </a:r>
          </a:p>
        </p:txBody>
      </p:sp>
      <p:sp>
        <p:nvSpPr>
          <p:cNvPr id="165" name="If the scoreboard indicates a tie score at the end of regulation after the JRs check in with their SKs, the JT will immediately signal the SBO to start the OT lineup clock.…"/>
          <p:cNvSpPr txBox="1"/>
          <p:nvPr/>
        </p:nvSpPr>
        <p:spPr>
          <a:xfrm>
            <a:off x="6346511" y="4556617"/>
            <a:ext cx="5591723" cy="2111721"/>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If the scoreboard indicates a tie score at the end of regulation after the JRs check in with their SKs, the JT will immediately signal the SBO to start the OT lineup clock.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have OT jams until there is no longer a tie score at the end of an OT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Overtime jam amendments: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 lead jammer.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Two-minute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Jammers begin scoring on their initial trip.</a:t>
            </a:r>
          </a:p>
        </p:txBody>
      </p:sp>
      <p:sp>
        <p:nvSpPr>
          <p:cNvPr id="166" name="Overtime Procedures"/>
          <p:cNvSpPr txBox="1"/>
          <p:nvPr/>
        </p:nvSpPr>
        <p:spPr>
          <a:xfrm>
            <a:off x="7251529" y="4204709"/>
            <a:ext cx="378168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Overtime Procedures</a:t>
            </a:r>
          </a:p>
        </p:txBody>
      </p:sp>
      <p:sp>
        <p:nvSpPr>
          <p:cNvPr id="167" name="Crew Briefing"/>
          <p:cNvSpPr txBox="1"/>
          <p:nvPr/>
        </p:nvSpPr>
        <p:spPr>
          <a:xfrm>
            <a:off x="4197816" y="142159"/>
            <a:ext cx="4211471"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Crew Briefing</a:t>
            </a:r>
          </a:p>
        </p:txBody>
      </p:sp>
      <p:sp>
        <p:nvSpPr>
          <p:cNvPr id="168" name="Crew Briefing Continued"/>
          <p:cNvSpPr txBox="1"/>
          <p:nvPr/>
        </p:nvSpPr>
        <p:spPr>
          <a:xfrm>
            <a:off x="15969277" y="142159"/>
            <a:ext cx="4211472"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Crew Briefing Continued</a:t>
            </a:r>
          </a:p>
        </p:txBody>
      </p:sp>
      <p:sp>
        <p:nvSpPr>
          <p:cNvPr id="169" name="I want to complete official reviews as efficiently as possible, ideally in less than two minutes.…"/>
          <p:cNvSpPr txBox="1"/>
          <p:nvPr/>
        </p:nvSpPr>
        <p:spPr>
          <a:xfrm>
            <a:off x="12436074" y="2135060"/>
            <a:ext cx="5588001" cy="366715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 want to complete official reviews as efficiently as possible, ideally in less than two minutes.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HNSO and ALTR will accompany me to meet coaches/captains at the designated review meeting location.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All other SOs and available NSOs will meet at the designated official review location.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ALTR will get sufficient information to share with all officials before I arrive to help complete the review.</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HNSO will confer with their crew if necessary.</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ask very specific questions to reach an outcome.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When we reach a decision: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HNSO or ALTR will indicate the result to the SBO.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advise the coaches/captains of the result.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mic is available, I will announce the review result.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announcers intend to report the review result, the ALTR will provide the necessary details.</a:t>
            </a:r>
          </a:p>
        </p:txBody>
      </p:sp>
      <p:sp>
        <p:nvSpPr>
          <p:cNvPr id="170" name="Official Reviews"/>
          <p:cNvSpPr txBox="1"/>
          <p:nvPr/>
        </p:nvSpPr>
        <p:spPr>
          <a:xfrm>
            <a:off x="13456375" y="1791957"/>
            <a:ext cx="354739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Official Reviews</a:t>
            </a:r>
          </a:p>
        </p:txBody>
      </p:sp>
      <p:sp>
        <p:nvSpPr>
          <p:cNvPr id="171" name="Teams may ask any SO short, clarifying questions (≈5-8 seconds) during lineups, timeouts, etc.…"/>
          <p:cNvSpPr txBox="1"/>
          <p:nvPr/>
        </p:nvSpPr>
        <p:spPr>
          <a:xfrm>
            <a:off x="12436074" y="967633"/>
            <a:ext cx="5588001" cy="822922"/>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Teams may ask any SO short, clarifying questions (≈5-8 seconds) during lineups, timeouts, etc.</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Direct any other questions to me ASAP.</a:t>
            </a:r>
          </a:p>
        </p:txBody>
      </p:sp>
      <p:sp>
        <p:nvSpPr>
          <p:cNvPr id="172" name="Communication With Teams"/>
          <p:cNvSpPr txBox="1"/>
          <p:nvPr/>
        </p:nvSpPr>
        <p:spPr>
          <a:xfrm>
            <a:off x="13456375" y="618931"/>
            <a:ext cx="3547398" cy="364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Communication With Teams</a:t>
            </a:r>
          </a:p>
        </p:txBody>
      </p:sp>
      <p:sp>
        <p:nvSpPr>
          <p:cNvPr id="173" name="Team identification:…"/>
          <p:cNvSpPr txBox="1"/>
          <p:nvPr/>
        </p:nvSpPr>
        <p:spPr>
          <a:xfrm>
            <a:off x="18125952" y="964179"/>
            <a:ext cx="5588001" cy="1232623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Team identification: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1 in </a:t>
            </a:r>
            <a:r>
              <a:rPr u="sng"/>
              <a:t> (color) </a:t>
            </a:r>
            <a:r>
              <a:t> identifies as ___________________.</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2 in </a:t>
            </a:r>
            <a:r>
              <a:rPr u="sng"/>
              <a:t> (color) </a:t>
            </a:r>
            <a:r>
              <a:t> identifies as ___________________.</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Physical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Will take place </a:t>
            </a:r>
            <a:r>
              <a:rPr u="sng"/>
              <a:t>N</a:t>
            </a:r>
            <a:r>
              <a:t> x minutes before the game.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All checks that involve touching equipment require players to give affirmative verbal consent.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Fingernails longer than 1/4” must be taped/gloved.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Players must remove their mouthguards and speak to you after replacing them.</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Visual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Will take place </a:t>
            </a:r>
            <a:r>
              <a:rPr u="sng"/>
              <a:t>N</a:t>
            </a:r>
            <a:r>
              <a:t> x minutes before the start of P2.</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One official will lead, others will observe.</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Official assignments for physical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1: _______________.  Team 2: _______________.</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Any official who wishes to opt out of gear checks may do so; please let me know ASAP.</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Fouled-Out/Expelled Players must be directed from the team bench/penalty box to Designated Chaperones (DC).</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DC should </a:t>
            </a:r>
            <a:r>
              <a:rPr u="sng"/>
              <a:t>not</a:t>
            </a:r>
            <a:r>
              <a:t> come to the penalty box.</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Wait to direct players if there is an OR or OTO.</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Cursing has a lower metric for penalization than WFTDA or MRDA.</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you’re not sure if you hear something that meets the metric, please check with me ASAP.</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Sudden Scoring:</a:t>
            </a:r>
          </a:p>
          <a:p>
            <a:pPr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confer with the HNSO at halftime to determine if the second period will feature sudden scoring.</a:t>
            </a:r>
          </a:p>
          <a:p>
            <a:pPr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and HR will communicate instructions to their respective crews, and the HR will communicate instructions to the teams.</a:t>
            </a:r>
          </a:p>
          <a:p>
            <a:pPr marL="254000" indent="-254000" algn="l">
              <a:buClr>
                <a:srgbClr val="000000"/>
              </a:buClr>
              <a:buSzPct val="100000"/>
              <a:buAutoNum type="arabicPeriod" startAt="8"/>
              <a:defRPr b="1" sz="1400">
                <a:solidFill>
                  <a:srgbClr val="000000"/>
                </a:solidFill>
                <a:latin typeface="Lucida Grande"/>
                <a:ea typeface="Lucida Grande"/>
                <a:cs typeface="Lucida Grande"/>
                <a:sym typeface="Lucida Grande"/>
              </a:defRPr>
            </a:pPr>
            <a:r>
              <a:t>Injury Continuations: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and HR will confer during the injury OTO to determine if the circumstances meet the criteria for an injury continuation. I will need to know:</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Which jammer, if any was lead.</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How much time was remaining in the jam.</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Whether each jammer was on a scoring trip.</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situation meets the criteria, the HR and HNSO will meet with both coaches to determine if the eligible team chooses to continue the previous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will tell the SBO if the jam will continue.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mic is available, I will announce the decision.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announcers intend to report the decision, the ALTR will provide the necessary details.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Note that the scoreboard will increment jam numbers during an injury continuation.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When the JT announces there are 5 seconds before the start of a jam continuation, JRs will advise their jammer of their lead status and whether or not they are on a scoring trip.</a:t>
            </a:r>
          </a:p>
          <a:p>
            <a:pPr marL="228600" indent="-228600" algn="l">
              <a:buClr>
                <a:srgbClr val="000000"/>
              </a:buClr>
              <a:buSzPct val="100000"/>
              <a:buAutoNum type="arabicPeriod" startAt="8"/>
              <a:defRPr b="1" sz="1400">
                <a:solidFill>
                  <a:srgbClr val="000000"/>
                </a:solidFill>
                <a:latin typeface="Lucida Grande"/>
                <a:ea typeface="Lucida Grande"/>
                <a:cs typeface="Lucida Grande"/>
                <a:sym typeface="Lucida Grande"/>
              </a:defRPr>
            </a:pPr>
            <a:r>
              <a:t>Overtime Note: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overtime is necessary, the JT will call an OTO.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signal the JT to direct the SBO to start the 1:00 lineup clock as soon as teams and officials are briefed.</a:t>
            </a:r>
          </a:p>
        </p:txBody>
      </p:sp>
      <p:sp>
        <p:nvSpPr>
          <p:cNvPr id="174" name="JRDA-Specific Procedures"/>
          <p:cNvSpPr txBox="1"/>
          <p:nvPr/>
        </p:nvSpPr>
        <p:spPr>
          <a:xfrm>
            <a:off x="19243364" y="621836"/>
            <a:ext cx="354739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JRDA-Specific Procedures</a:t>
            </a:r>
          </a:p>
        </p:txBody>
      </p:sp>
      <p:sp>
        <p:nvSpPr>
          <p:cNvPr id="175" name="“Moved into it.”…"/>
          <p:cNvSpPr txBox="1"/>
          <p:nvPr/>
        </p:nvSpPr>
        <p:spPr>
          <a:xfrm>
            <a:off x="12436074" y="6170463"/>
            <a:ext cx="5588001" cy="340502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“Moved into it.”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“Initiator null.”</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“Own team.”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“Derby gameplay action that doesn’t warrant penalization.”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“Lateral block.”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“On tape.”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“Helmet cover removed by natural gameplay.”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“One arm OOB”</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“Pinning” or “Illegal Hold.”</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“Incomplete star pass.”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“Non-initiator did not have superior position.”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“Lead is lost.”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“Jam called for injury.”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“Injury continuation.” (JRDA-only)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“No injury continuation.” (JRDA-only)</a:t>
            </a:r>
          </a:p>
        </p:txBody>
      </p:sp>
      <p:sp>
        <p:nvSpPr>
          <p:cNvPr id="176" name="Non-Standard Hand Signals"/>
          <p:cNvSpPr txBox="1"/>
          <p:nvPr/>
        </p:nvSpPr>
        <p:spPr>
          <a:xfrm>
            <a:off x="13456375" y="5809006"/>
            <a:ext cx="354739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Non-Standard Hand Signals</a:t>
            </a:r>
          </a:p>
        </p:txBody>
      </p:sp>
      <p:sp>
        <p:nvSpPr>
          <p:cNvPr id="177" name="Show kindness and empathy to everyone…including you.…"/>
          <p:cNvSpPr txBox="1"/>
          <p:nvPr/>
        </p:nvSpPr>
        <p:spPr>
          <a:xfrm>
            <a:off x="12436074" y="9932320"/>
            <a:ext cx="5588001" cy="822923"/>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Show kindness and empathy to everyone…including </a:t>
            </a:r>
            <a:r>
              <a:rPr u="sng"/>
              <a:t>you</a:t>
            </a:r>
            <a:r>
              <a: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Be humble and assume everyone has the best intentions.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Listen with the goal of understanding, not responding.</a:t>
            </a:r>
          </a:p>
        </p:txBody>
      </p:sp>
      <p:sp>
        <p:nvSpPr>
          <p:cNvPr id="178" name="Officiating Expectations"/>
          <p:cNvSpPr txBox="1"/>
          <p:nvPr/>
        </p:nvSpPr>
        <p:spPr>
          <a:xfrm>
            <a:off x="13456375" y="9583563"/>
            <a:ext cx="3547398" cy="3455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Officiating Expectations</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0"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181" name="Rectangle"/>
          <p:cNvSpPr/>
          <p:nvPr/>
        </p:nvSpPr>
        <p:spPr>
          <a:xfrm>
            <a:off x="12330779"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82" name="Rectangle"/>
          <p:cNvSpPr/>
          <p:nvPr/>
        </p:nvSpPr>
        <p:spPr>
          <a:xfrm>
            <a:off x="564752"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83" name="Coaches &amp; Captains Meeting"/>
          <p:cNvSpPr txBox="1"/>
          <p:nvPr/>
        </p:nvSpPr>
        <p:spPr>
          <a:xfrm>
            <a:off x="3176587" y="138369"/>
            <a:ext cx="6264799"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Coaches &amp; Captains Meeting</a:t>
            </a:r>
          </a:p>
        </p:txBody>
      </p:sp>
      <p:sp>
        <p:nvSpPr>
          <p:cNvPr id="184" name="Coaches &amp; Captains Meeting Continued"/>
          <p:cNvSpPr txBox="1"/>
          <p:nvPr/>
        </p:nvSpPr>
        <p:spPr>
          <a:xfrm>
            <a:off x="14708018" y="142159"/>
            <a:ext cx="6733991"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Coaches &amp; Captains Meeting Continued</a:t>
            </a:r>
          </a:p>
        </p:txBody>
      </p:sp>
      <p:sp>
        <p:nvSpPr>
          <p:cNvPr id="185" name="If you have an official review available, I will ask you if you want to use it at the end of each period.…"/>
          <p:cNvSpPr txBox="1"/>
          <p:nvPr/>
        </p:nvSpPr>
        <p:spPr>
          <a:xfrm>
            <a:off x="6352158" y="991259"/>
            <a:ext cx="5588001" cy="1242835"/>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28600" indent="-228600" algn="l">
              <a:buSzPct val="100000"/>
              <a:buAutoNum type="arabicPeriod" startAt="1"/>
              <a:defRPr sz="1400">
                <a:solidFill>
                  <a:srgbClr val="000000"/>
                </a:solidFill>
                <a:latin typeface="Lucida Grande"/>
                <a:ea typeface="Lucida Grande"/>
                <a:cs typeface="Lucida Grande"/>
                <a:sym typeface="Lucida Grande"/>
              </a:defRPr>
            </a:pPr>
            <a:r>
              <a:t>If you have an official review available, I will ask you if you want to use it at the end of each period.</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 will attempt to locate you in your team bench area within the first five minutes of intermission to ask for feedback that I can share with the rest of the officials.</a:t>
            </a:r>
          </a:p>
        </p:txBody>
      </p:sp>
      <p:sp>
        <p:nvSpPr>
          <p:cNvPr id="186" name="End-of-Period and Game Procedures"/>
          <p:cNvSpPr txBox="1"/>
          <p:nvPr/>
        </p:nvSpPr>
        <p:spPr>
          <a:xfrm>
            <a:off x="6812705" y="624736"/>
            <a:ext cx="4666904" cy="404076"/>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End-of-Period and Game Procedures</a:t>
            </a:r>
          </a:p>
        </p:txBody>
      </p:sp>
      <p:sp>
        <p:nvSpPr>
          <p:cNvPr id="187" name="Penalty avoidance:…"/>
          <p:cNvSpPr txBox="1"/>
          <p:nvPr/>
        </p:nvSpPr>
        <p:spPr>
          <a:xfrm>
            <a:off x="677815" y="4109042"/>
            <a:ext cx="5588001" cy="919922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b="1" sz="1400">
                <a:solidFill>
                  <a:srgbClr val="000000"/>
                </a:solidFill>
                <a:latin typeface="Lucida Grande"/>
                <a:ea typeface="Lucida Grande"/>
                <a:cs typeface="Lucida Grande"/>
                <a:sym typeface="Lucida Grande"/>
              </a:defRPr>
            </a:pPr>
            <a:r>
              <a:t>Penalty avoidance:</a:t>
            </a:r>
          </a:p>
          <a:p>
            <a:pPr lvl="1" marL="381000" indent="-254000" algn="l">
              <a:buSzPct val="100000"/>
              <a:buChar char="•"/>
              <a:defRPr sz="1400">
                <a:solidFill>
                  <a:srgbClr val="000000"/>
                </a:solidFill>
                <a:latin typeface="Lucida Grande"/>
                <a:ea typeface="Lucida Grande"/>
                <a:cs typeface="Lucida Grande"/>
                <a:sym typeface="Lucida Grande"/>
              </a:defRPr>
            </a:pPr>
            <a:r>
              <a:t>We will make every effort to keep players out of the penalty box and on the track.</a:t>
            </a:r>
          </a:p>
          <a:p>
            <a:pPr lvl="1" marL="381000" indent="-254000" algn="l">
              <a:buSzPct val="100000"/>
              <a:buChar char="•"/>
              <a:defRPr sz="1400">
                <a:solidFill>
                  <a:srgbClr val="000000"/>
                </a:solidFill>
                <a:latin typeface="Lucida Grande"/>
                <a:ea typeface="Lucida Grande"/>
                <a:cs typeface="Lucida Grande"/>
                <a:sym typeface="Lucida Grande"/>
              </a:defRPr>
            </a:pPr>
            <a:r>
              <a:t>Illegal actions without sufficent game impact to warrant a penalty will go unpenalized.</a:t>
            </a:r>
          </a:p>
          <a:p>
            <a:pPr lvl="1" marL="381000" indent="-254000" algn="l">
              <a:buSzPct val="100000"/>
              <a:buChar char="•"/>
              <a:defRPr sz="1400">
                <a:solidFill>
                  <a:srgbClr val="000000"/>
                </a:solidFill>
                <a:latin typeface="Lucida Grande"/>
                <a:ea typeface="Lucida Grande"/>
                <a:cs typeface="Lucida Grande"/>
                <a:sym typeface="Lucida Grande"/>
              </a:defRPr>
            </a:pPr>
            <a:r>
              <a:t>We will use warnings whenever possible to help players avoid penalization.</a:t>
            </a:r>
          </a:p>
          <a:p>
            <a:pPr lvl="1" marL="381000" indent="-254000" algn="l">
              <a:buSzPct val="100000"/>
              <a:buChar char="•"/>
              <a:defRPr sz="1400">
                <a:solidFill>
                  <a:srgbClr val="000000"/>
                </a:solidFill>
                <a:latin typeface="Lucida Grande"/>
                <a:ea typeface="Lucida Grande"/>
                <a:cs typeface="Lucida Grande"/>
                <a:sym typeface="Lucida Grande"/>
              </a:defRPr>
            </a:pPr>
            <a:r>
              <a:t>This may result in scenarios that can cause confusion:</a:t>
            </a:r>
          </a:p>
          <a:p>
            <a:pPr lvl="2" marL="444500" indent="-190500" algn="l">
              <a:buSzPct val="100000"/>
              <a:buChar char="•"/>
              <a:defRPr sz="1400">
                <a:solidFill>
                  <a:srgbClr val="000000"/>
                </a:solidFill>
                <a:latin typeface="Lucida Grande"/>
                <a:ea typeface="Lucida Grande"/>
                <a:cs typeface="Lucida Grande"/>
                <a:sym typeface="Lucida Grande"/>
              </a:defRPr>
            </a:pPr>
            <a:r>
              <a:t>Clearly visable illegal action goes unpenalized.</a:t>
            </a:r>
          </a:p>
          <a:p>
            <a:pPr lvl="2" marL="444500" indent="-190500" algn="l">
              <a:buSzPct val="100000"/>
              <a:buChar char="•"/>
              <a:defRPr sz="1400">
                <a:solidFill>
                  <a:srgbClr val="000000"/>
                </a:solidFill>
                <a:latin typeface="Lucida Grande"/>
                <a:ea typeface="Lucida Grande"/>
                <a:cs typeface="Lucida Grande"/>
                <a:sym typeface="Lucida Grande"/>
              </a:defRPr>
            </a:pPr>
            <a:r>
              <a:t>Player issued a penalty by one official and told to remain on or return to the track by another official.</a:t>
            </a:r>
          </a:p>
          <a:p>
            <a:pPr lvl="2" marL="444500" indent="-190500" algn="l">
              <a:buSzPct val="100000"/>
              <a:buChar char="•"/>
              <a:defRPr sz="1400">
                <a:solidFill>
                  <a:srgbClr val="000000"/>
                </a:solidFill>
                <a:latin typeface="Lucida Grande"/>
                <a:ea typeface="Lucida Grande"/>
                <a:cs typeface="Lucida Grande"/>
                <a:sym typeface="Lucida Grande"/>
              </a:defRPr>
            </a:pPr>
            <a:r>
              <a:t>Player penalized or re-penalized after a jam.</a:t>
            </a:r>
          </a:p>
          <a:p>
            <a:pPr lvl="2" marL="444500" indent="-190500" algn="l">
              <a:buSzPct val="100000"/>
              <a:buChar char="•"/>
              <a:defRPr sz="1400">
                <a:solidFill>
                  <a:srgbClr val="000000"/>
                </a:solidFill>
                <a:latin typeface="Lucida Grande"/>
                <a:ea typeface="Lucida Grande"/>
                <a:cs typeface="Lucida Grande"/>
                <a:sym typeface="Lucida Grande"/>
              </a:defRPr>
            </a:pPr>
            <a:r>
              <a:t>Penalty removed after a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Failure to exit penalties: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want to avoid issuing failure to exit penalties. </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will issue illegal procedure penalties to penalized players who do not immediately exit to the outside of the track when it is safe for them to do so.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metric we will use affords players a ≈45-degree angle to their left or right as they face the outside of the track.</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will penalize for skating through the inside of the track regardless of the player’s exit angle.</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Pack reformation and return-to-play penalties: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Please remind players of their responsibilities when they receive “no-pack” and “out-of-play” warnings.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False start warnings:</a:t>
            </a:r>
            <a:endParaRPr b="1"/>
          </a:p>
          <a:p>
            <a:pPr lvl="1" marL="317500" indent="-190500" algn="l">
              <a:buSzPct val="100000"/>
              <a:buChar char="•"/>
              <a:defRPr sz="1400">
                <a:solidFill>
                  <a:srgbClr val="000000"/>
                </a:solidFill>
                <a:latin typeface="Lucida Grande"/>
                <a:ea typeface="Lucida Grande"/>
                <a:cs typeface="Lucida Grande"/>
                <a:sym typeface="Lucida Grande"/>
              </a:defRPr>
            </a:pPr>
            <a:r>
              <a:t>Please remind players to remain on the track and yield their position to other players.</a:t>
            </a:r>
          </a:p>
          <a:p>
            <a:pPr lvl="1" marL="317500" indent="-190500" algn="l">
              <a:buSzPct val="100000"/>
              <a:buChar char="•"/>
              <a:defRPr sz="1400">
                <a:solidFill>
                  <a:srgbClr val="000000"/>
                </a:solidFill>
                <a:latin typeface="Lucida Grande"/>
                <a:ea typeface="Lucida Grande"/>
                <a:cs typeface="Lucida Grande"/>
                <a:sym typeface="Lucida Grande"/>
              </a:defRPr>
            </a:pPr>
            <a:r>
              <a:t>Officials who issue false start warnings will provide a verbal and visual cue to indicate a player may resume play.</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Contact with officials:</a:t>
            </a:r>
            <a:endParaRPr b="1"/>
          </a:p>
          <a:p>
            <a:pPr lvl="1" marL="317500" indent="-190500" algn="l">
              <a:buSzPct val="100000"/>
              <a:buChar char="•"/>
              <a:defRPr sz="1400">
                <a:solidFill>
                  <a:srgbClr val="000000"/>
                </a:solidFill>
                <a:latin typeface="Lucida Grande"/>
                <a:ea typeface="Lucida Grande"/>
                <a:cs typeface="Lucida Grande"/>
                <a:sym typeface="Lucida Grande"/>
              </a:defRPr>
            </a:pPr>
            <a:r>
              <a:t>Sometimes it happens due to natural gameplay.</a:t>
            </a:r>
          </a:p>
          <a:p>
            <a:pPr lvl="1" marL="317500" indent="-190500" algn="l">
              <a:buSzPct val="100000"/>
              <a:buChar char="•"/>
              <a:defRPr sz="1400">
                <a:solidFill>
                  <a:srgbClr val="000000"/>
                </a:solidFill>
                <a:latin typeface="Lucida Grande"/>
                <a:ea typeface="Lucida Grande"/>
                <a:cs typeface="Lucida Grande"/>
                <a:sym typeface="Lucida Grande"/>
              </a:defRPr>
            </a:pPr>
            <a:r>
              <a:t>Please remind players to be mindful of avoiding contact with officials when they are:</a:t>
            </a:r>
          </a:p>
          <a:p>
            <a:pPr lvl="2" marL="444500" indent="-190500" algn="l">
              <a:buSzPct val="100000"/>
              <a:buChar char="•"/>
              <a:defRPr sz="1400">
                <a:solidFill>
                  <a:srgbClr val="000000"/>
                </a:solidFill>
                <a:latin typeface="Lucida Grande"/>
                <a:ea typeface="Lucida Grande"/>
                <a:cs typeface="Lucida Grande"/>
                <a:sym typeface="Lucida Grande"/>
              </a:defRPr>
            </a:pPr>
            <a:r>
              <a:t>Reporting to, entering, or returning from the penalty box.</a:t>
            </a:r>
          </a:p>
          <a:p>
            <a:pPr lvl="2" marL="444500" indent="-190500" algn="l">
              <a:buSzPct val="100000"/>
              <a:buChar char="•"/>
              <a:defRPr sz="1400">
                <a:solidFill>
                  <a:srgbClr val="000000"/>
                </a:solidFill>
                <a:latin typeface="Lucida Grande"/>
                <a:ea typeface="Lucida Grande"/>
                <a:cs typeface="Lucida Grande"/>
                <a:sym typeface="Lucida Grande"/>
              </a:defRPr>
            </a:pPr>
            <a:r>
              <a:t>Crossing the inside area of the track.</a:t>
            </a:r>
          </a:p>
          <a:p>
            <a:pPr lvl="2" marL="444500" indent="-190500" algn="l">
              <a:buSzPct val="100000"/>
              <a:buChar char="•"/>
              <a:defRPr sz="1400">
                <a:solidFill>
                  <a:srgbClr val="000000"/>
                </a:solidFill>
                <a:latin typeface="Lucida Grande"/>
                <a:ea typeface="Lucida Grande"/>
                <a:cs typeface="Lucida Grande"/>
                <a:sym typeface="Lucida Grande"/>
              </a:defRPr>
            </a:pPr>
            <a:r>
              <a:t>Leaving or returning to their bench.</a:t>
            </a:r>
          </a:p>
          <a:p>
            <a:pPr lvl="2" marL="444500" indent="-190500" algn="l">
              <a:buSzPct val="100000"/>
              <a:buChar char="•"/>
              <a:defRPr sz="1400">
                <a:solidFill>
                  <a:srgbClr val="000000"/>
                </a:solidFill>
                <a:latin typeface="Lucida Grande"/>
                <a:ea typeface="Lucida Grande"/>
                <a:cs typeface="Lucida Grande"/>
                <a:sym typeface="Lucida Grande"/>
              </a:defRPr>
            </a:pPr>
            <a:r>
              <a:t>Skating non-derby direction in the JR lanes.</a:t>
            </a:r>
          </a:p>
          <a:p>
            <a:pPr lvl="1" marL="317500" indent="-190500" algn="l">
              <a:buSzPct val="100000"/>
              <a:buChar char="•"/>
              <a:defRPr sz="1400">
                <a:solidFill>
                  <a:srgbClr val="000000"/>
                </a:solidFill>
                <a:latin typeface="Lucida Grande"/>
                <a:ea typeface="Lucida Grande"/>
                <a:cs typeface="Lucida Grande"/>
                <a:sym typeface="Lucida Grande"/>
              </a:defRPr>
            </a:pPr>
            <a:r>
              <a:t>OPRs will hold their positions for ≈5 seconds after a jam ends to help avoid contact with players.</a:t>
            </a:r>
          </a:p>
          <a:p>
            <a:pPr lvl="1" marL="317500" indent="-190500" algn="l">
              <a:buSzPct val="100000"/>
              <a:buChar char="•"/>
              <a:defRPr sz="1400">
                <a:solidFill>
                  <a:srgbClr val="000000"/>
                </a:solidFill>
                <a:latin typeface="Lucida Grande"/>
                <a:ea typeface="Lucida Grande"/>
                <a:cs typeface="Lucida Grande"/>
                <a:sym typeface="Lucida Grande"/>
              </a:defRPr>
            </a:pPr>
            <a:r>
              <a:t>Forceful contact with an official that is negligent and avoidable may result in expulsion.</a:t>
            </a:r>
          </a:p>
        </p:txBody>
      </p:sp>
      <p:sp>
        <p:nvSpPr>
          <p:cNvPr id="188" name="Gameplay Support"/>
          <p:cNvSpPr txBox="1"/>
          <p:nvPr/>
        </p:nvSpPr>
        <p:spPr>
          <a:xfrm>
            <a:off x="1698116" y="374650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Gameplay Support</a:t>
            </a:r>
          </a:p>
        </p:txBody>
      </p:sp>
      <p:sp>
        <p:nvSpPr>
          <p:cNvPr id="189" name="Captains and Alternates only for both teams, please meet at the designated official review area.…"/>
          <p:cNvSpPr txBox="1"/>
          <p:nvPr/>
        </p:nvSpPr>
        <p:spPr>
          <a:xfrm>
            <a:off x="6352158" y="6808914"/>
            <a:ext cx="5588001" cy="169428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Captains and Alternates only for both teams, please meet at the </a:t>
            </a:r>
            <a:r>
              <a:rPr u="sng"/>
              <a:t>designated official review area</a:t>
            </a:r>
            <a:r>
              <a: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After I listen to your official review request, I will confirm the intent of your review before performing the review with the officiating crews.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Please remain in the designated area until I return to share the result of your official review request.</a:t>
            </a:r>
          </a:p>
        </p:txBody>
      </p:sp>
      <p:sp>
        <p:nvSpPr>
          <p:cNvPr id="190" name="Official Reviews"/>
          <p:cNvSpPr txBox="1"/>
          <p:nvPr/>
        </p:nvSpPr>
        <p:spPr>
          <a:xfrm>
            <a:off x="7372459" y="6447301"/>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Official Reviews</a:t>
            </a:r>
          </a:p>
        </p:txBody>
      </p:sp>
      <p:sp>
        <p:nvSpPr>
          <p:cNvPr id="191" name="Players and coaches may ask any SO short, clarifying questions (≈5-8 seconds) during lineups, timeouts, etc.…"/>
          <p:cNvSpPr txBox="1"/>
          <p:nvPr/>
        </p:nvSpPr>
        <p:spPr>
          <a:xfrm>
            <a:off x="6352158" y="5175236"/>
            <a:ext cx="5588001" cy="124283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Players and coaches may ask any SO short, clarifying questions (≈5-8 seconds) during lineups, timeouts, etc.</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Direct any other questions to me ASAP.</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make mistakes, and we do our best to resolve those mistakes in a way that is as fair as possible.</a:t>
            </a:r>
          </a:p>
        </p:txBody>
      </p:sp>
      <p:sp>
        <p:nvSpPr>
          <p:cNvPr id="192" name="Communication With Officials"/>
          <p:cNvSpPr txBox="1"/>
          <p:nvPr/>
        </p:nvSpPr>
        <p:spPr>
          <a:xfrm>
            <a:off x="7372459" y="4810526"/>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Communication With Officials</a:t>
            </a:r>
          </a:p>
        </p:txBody>
      </p:sp>
      <p:sp>
        <p:nvSpPr>
          <p:cNvPr id="193" name="If the scoreboard indicates a tie score at the end of regulation after the JRs check in with their SKs, the JT will immediately signal the SBO to start the OT lineup clock.…"/>
          <p:cNvSpPr txBox="1"/>
          <p:nvPr/>
        </p:nvSpPr>
        <p:spPr>
          <a:xfrm>
            <a:off x="6352158" y="2602557"/>
            <a:ext cx="5588001" cy="217873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If the scoreboard indicates a tie score at the end of regulation after the JRs check in with their SKs, the JT will immediately signal the SBO to start the OT lineup clock.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have OT jams until there is no longer a tie score at the end of an OT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Overtime jam amendments: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 lead jammer.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Two-minute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Jammers begin scoring on their initial trip.</a:t>
            </a:r>
          </a:p>
        </p:txBody>
      </p:sp>
      <p:sp>
        <p:nvSpPr>
          <p:cNvPr id="194" name="Overtime Procedures"/>
          <p:cNvSpPr txBox="1"/>
          <p:nvPr/>
        </p:nvSpPr>
        <p:spPr>
          <a:xfrm>
            <a:off x="7372459" y="224773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Overtime Procedures</a:t>
            </a:r>
          </a:p>
        </p:txBody>
      </p:sp>
      <p:grpSp>
        <p:nvGrpSpPr>
          <p:cNvPr id="230" name="Group"/>
          <p:cNvGrpSpPr/>
          <p:nvPr/>
        </p:nvGrpSpPr>
        <p:grpSpPr>
          <a:xfrm rot="16197861">
            <a:off x="12554669" y="2114215"/>
            <a:ext cx="12596172" cy="9894237"/>
            <a:chOff x="-18" y="4"/>
            <a:chExt cx="12596170" cy="9894236"/>
          </a:xfrm>
        </p:grpSpPr>
        <p:grpSp>
          <p:nvGrpSpPr>
            <p:cNvPr id="214" name="Track"/>
            <p:cNvGrpSpPr/>
            <p:nvPr/>
          </p:nvGrpSpPr>
          <p:grpSpPr>
            <a:xfrm rot="10799600">
              <a:off x="481" y="738"/>
              <a:ext cx="12595170" cy="8596202"/>
              <a:chOff x="-1" y="-2"/>
              <a:chExt cx="12595169" cy="8596200"/>
            </a:xfrm>
          </p:grpSpPr>
          <p:sp>
            <p:nvSpPr>
              <p:cNvPr id="195" name="Bumpers"/>
              <p:cNvSpPr/>
              <p:nvPr/>
            </p:nvSpPr>
            <p:spPr>
              <a:xfrm rot="21600000">
                <a:off x="-1" y="-1"/>
                <a:ext cx="12595169" cy="8596199"/>
              </a:xfrm>
              <a:custGeom>
                <a:avLst/>
                <a:gdLst/>
                <a:ahLst/>
                <a:cxnLst>
                  <a:cxn ang="0">
                    <a:pos x="wd2" y="hd2"/>
                  </a:cxn>
                  <a:cxn ang="5400000">
                    <a:pos x="wd2" y="hd2"/>
                  </a:cxn>
                  <a:cxn ang="10800000">
                    <a:pos x="wd2" y="hd2"/>
                  </a:cxn>
                  <a:cxn ang="16200000">
                    <a:pos x="wd2" y="hd2"/>
                  </a:cxn>
                </a:cxnLst>
                <a:rect l="0" t="0" r="r" b="b"/>
                <a:pathLst>
                  <a:path w="21486" h="21591" fill="norm" stroke="1" extrusionOk="0">
                    <a:moveTo>
                      <a:pt x="14355" y="1"/>
                    </a:moveTo>
                    <a:cubicBezTo>
                      <a:pt x="14184" y="3"/>
                      <a:pt x="14013" y="11"/>
                      <a:pt x="13843" y="26"/>
                    </a:cubicBezTo>
                    <a:cubicBezTo>
                      <a:pt x="13835" y="30"/>
                      <a:pt x="13826" y="34"/>
                      <a:pt x="13818" y="38"/>
                    </a:cubicBezTo>
                    <a:cubicBezTo>
                      <a:pt x="13810" y="41"/>
                      <a:pt x="13802" y="46"/>
                      <a:pt x="13793" y="49"/>
                    </a:cubicBezTo>
                    <a:lnTo>
                      <a:pt x="13792" y="32"/>
                    </a:lnTo>
                    <a:lnTo>
                      <a:pt x="7548" y="539"/>
                    </a:lnTo>
                    <a:cubicBezTo>
                      <a:pt x="6643" y="569"/>
                      <a:pt x="5744" y="784"/>
                      <a:pt x="4872" y="1174"/>
                    </a:cubicBezTo>
                    <a:cubicBezTo>
                      <a:pt x="3433" y="1816"/>
                      <a:pt x="2050" y="2938"/>
                      <a:pt x="1143" y="4895"/>
                    </a:cubicBezTo>
                    <a:cubicBezTo>
                      <a:pt x="94" y="7158"/>
                      <a:pt x="-113" y="10020"/>
                      <a:pt x="50" y="12758"/>
                    </a:cubicBezTo>
                    <a:cubicBezTo>
                      <a:pt x="129" y="14081"/>
                      <a:pt x="295" y="15418"/>
                      <a:pt x="650" y="16641"/>
                    </a:cubicBezTo>
                    <a:cubicBezTo>
                      <a:pt x="969" y="17743"/>
                      <a:pt x="1437" y="18729"/>
                      <a:pt x="2030" y="19522"/>
                    </a:cubicBezTo>
                    <a:cubicBezTo>
                      <a:pt x="2668" y="20376"/>
                      <a:pt x="3375" y="20932"/>
                      <a:pt x="4119" y="21234"/>
                    </a:cubicBezTo>
                    <a:cubicBezTo>
                      <a:pt x="4856" y="21534"/>
                      <a:pt x="5617" y="21582"/>
                      <a:pt x="6345" y="21591"/>
                    </a:cubicBezTo>
                    <a:cubicBezTo>
                      <a:pt x="7075" y="21599"/>
                      <a:pt x="7808" y="21561"/>
                      <a:pt x="8544" y="21466"/>
                    </a:cubicBezTo>
                    <a:lnTo>
                      <a:pt x="14566" y="21002"/>
                    </a:lnTo>
                    <a:lnTo>
                      <a:pt x="14566" y="21002"/>
                    </a:lnTo>
                    <a:cubicBezTo>
                      <a:pt x="14676" y="21007"/>
                      <a:pt x="14786" y="20988"/>
                      <a:pt x="14896" y="20966"/>
                    </a:cubicBezTo>
                    <a:cubicBezTo>
                      <a:pt x="15005" y="20944"/>
                      <a:pt x="15114" y="20919"/>
                      <a:pt x="15224" y="20894"/>
                    </a:cubicBezTo>
                    <a:cubicBezTo>
                      <a:pt x="16033" y="20716"/>
                      <a:pt x="16838" y="20385"/>
                      <a:pt x="17608" y="19879"/>
                    </a:cubicBezTo>
                    <a:cubicBezTo>
                      <a:pt x="18367" y="19381"/>
                      <a:pt x="19101" y="18707"/>
                      <a:pt x="19717" y="17744"/>
                    </a:cubicBezTo>
                    <a:cubicBezTo>
                      <a:pt x="20970" y="15786"/>
                      <a:pt x="21485" y="13153"/>
                      <a:pt x="21486" y="10553"/>
                    </a:cubicBezTo>
                    <a:cubicBezTo>
                      <a:pt x="21487" y="7871"/>
                      <a:pt x="20944" y="5084"/>
                      <a:pt x="19644" y="3018"/>
                    </a:cubicBezTo>
                    <a:cubicBezTo>
                      <a:pt x="18371" y="996"/>
                      <a:pt x="16615" y="141"/>
                      <a:pt x="14866" y="16"/>
                    </a:cubicBezTo>
                    <a:cubicBezTo>
                      <a:pt x="14696" y="4"/>
                      <a:pt x="14525" y="-1"/>
                      <a:pt x="14355" y="1"/>
                    </a:cubicBezTo>
                    <a:close/>
                  </a:path>
                </a:pathLst>
              </a:custGeom>
              <a:noFill/>
              <a:ln w="63500" cap="flat">
                <a:solidFill>
                  <a:srgbClr val="000000"/>
                </a:solidFill>
                <a:prstDash val="solid"/>
                <a:miter lim="400000"/>
              </a:ln>
              <a:effectLst/>
              <a:extLst>
                <a:ext uri="{C572A759-6A51-4108-AA02-DFA0A04FC94B}">
                  <ma14:wrappingTextBoxFlag xmlns:ma14="http://schemas.microsoft.com/office/mac/drawingml/2011/main" val="1"/>
                </a:ext>
              </a:extLst>
            </p:spPr>
            <p:txBody>
              <a:bodyPr wrap="square" lIns="50800" tIns="50800" rIns="50800" bIns="50800" numCol="1" anchor="ctr">
                <a:noAutofit/>
              </a:bodyPr>
              <a:lstStyle>
                <a:lvl1pPr defTabSz="825500">
                  <a:defRPr sz="3200">
                    <a:solidFill>
                      <a:srgbClr val="FFFFFF"/>
                    </a:solidFill>
                    <a:latin typeface="Helvetica Neue Medium"/>
                    <a:ea typeface="Helvetica Neue Medium"/>
                    <a:cs typeface="Helvetica Neue Medium"/>
                    <a:sym typeface="Helvetica Neue Medium"/>
                  </a:defRPr>
                </a:lvl1pPr>
              </a:lstStyle>
              <a:p>
                <a:pPr/>
                <a:r>
                  <a:t>]\</a:t>
                </a:r>
              </a:p>
            </p:txBody>
          </p:sp>
          <p:sp>
            <p:nvSpPr>
              <p:cNvPr id="196" name="Outside Boundary"/>
              <p:cNvSpPr/>
              <p:nvPr/>
            </p:nvSpPr>
            <p:spPr>
              <a:xfrm rot="21600000">
                <a:off x="1178232" y="1092415"/>
                <a:ext cx="10238702" cy="6411367"/>
              </a:xfrm>
              <a:custGeom>
                <a:avLst/>
                <a:gdLst/>
                <a:ahLst/>
                <a:cxnLst>
                  <a:cxn ang="0">
                    <a:pos x="wd2" y="hd2"/>
                  </a:cxn>
                  <a:cxn ang="5400000">
                    <a:pos x="wd2" y="hd2"/>
                  </a:cxn>
                  <a:cxn ang="10800000">
                    <a:pos x="wd2" y="hd2"/>
                  </a:cxn>
                  <a:cxn ang="16200000">
                    <a:pos x="wd2" y="hd2"/>
                  </a:cxn>
                </a:cxnLst>
                <a:rect l="0" t="0" r="r" b="b"/>
                <a:pathLst>
                  <a:path w="21482" h="21591" fill="norm" stroke="1" extrusionOk="0">
                    <a:moveTo>
                      <a:pt x="14352" y="1"/>
                    </a:moveTo>
                    <a:cubicBezTo>
                      <a:pt x="14182" y="3"/>
                      <a:pt x="14011" y="11"/>
                      <a:pt x="13841" y="26"/>
                    </a:cubicBezTo>
                    <a:cubicBezTo>
                      <a:pt x="13824" y="33"/>
                      <a:pt x="13808" y="42"/>
                      <a:pt x="13791" y="49"/>
                    </a:cubicBezTo>
                    <a:lnTo>
                      <a:pt x="13790" y="32"/>
                    </a:lnTo>
                    <a:lnTo>
                      <a:pt x="7547" y="538"/>
                    </a:lnTo>
                    <a:cubicBezTo>
                      <a:pt x="6642" y="569"/>
                      <a:pt x="5743" y="784"/>
                      <a:pt x="4871" y="1173"/>
                    </a:cubicBezTo>
                    <a:cubicBezTo>
                      <a:pt x="3432" y="1816"/>
                      <a:pt x="2050" y="2937"/>
                      <a:pt x="1143" y="4895"/>
                    </a:cubicBezTo>
                    <a:cubicBezTo>
                      <a:pt x="94" y="7158"/>
                      <a:pt x="-113" y="10020"/>
                      <a:pt x="50" y="12758"/>
                    </a:cubicBezTo>
                    <a:cubicBezTo>
                      <a:pt x="129" y="14081"/>
                      <a:pt x="295" y="15418"/>
                      <a:pt x="650" y="16641"/>
                    </a:cubicBezTo>
                    <a:cubicBezTo>
                      <a:pt x="969" y="17743"/>
                      <a:pt x="1437" y="18729"/>
                      <a:pt x="2029" y="19522"/>
                    </a:cubicBezTo>
                    <a:cubicBezTo>
                      <a:pt x="2667" y="20376"/>
                      <a:pt x="3374" y="20932"/>
                      <a:pt x="4118" y="21234"/>
                    </a:cubicBezTo>
                    <a:cubicBezTo>
                      <a:pt x="4855" y="21534"/>
                      <a:pt x="5616" y="21582"/>
                      <a:pt x="6344" y="21591"/>
                    </a:cubicBezTo>
                    <a:cubicBezTo>
                      <a:pt x="7074" y="21599"/>
                      <a:pt x="7807" y="21561"/>
                      <a:pt x="8543" y="21466"/>
                    </a:cubicBezTo>
                    <a:lnTo>
                      <a:pt x="14563" y="21002"/>
                    </a:lnTo>
                    <a:cubicBezTo>
                      <a:pt x="14563" y="21002"/>
                      <a:pt x="14564" y="21002"/>
                      <a:pt x="14564" y="21002"/>
                    </a:cubicBezTo>
                    <a:cubicBezTo>
                      <a:pt x="14789" y="21013"/>
                      <a:pt x="15015" y="21000"/>
                      <a:pt x="15241" y="20966"/>
                    </a:cubicBezTo>
                    <a:cubicBezTo>
                      <a:pt x="16054" y="20843"/>
                      <a:pt x="16844" y="20420"/>
                      <a:pt x="17605" y="19879"/>
                    </a:cubicBezTo>
                    <a:cubicBezTo>
                      <a:pt x="18351" y="19349"/>
                      <a:pt x="19091" y="18698"/>
                      <a:pt x="19714" y="17744"/>
                    </a:cubicBezTo>
                    <a:cubicBezTo>
                      <a:pt x="20982" y="15803"/>
                      <a:pt x="21487" y="13156"/>
                      <a:pt x="21483" y="10553"/>
                    </a:cubicBezTo>
                    <a:cubicBezTo>
                      <a:pt x="21478" y="7873"/>
                      <a:pt x="20939" y="5084"/>
                      <a:pt x="19640" y="3018"/>
                    </a:cubicBezTo>
                    <a:cubicBezTo>
                      <a:pt x="18369" y="994"/>
                      <a:pt x="16612" y="141"/>
                      <a:pt x="14863" y="16"/>
                    </a:cubicBezTo>
                    <a:cubicBezTo>
                      <a:pt x="14693" y="4"/>
                      <a:pt x="14523" y="-1"/>
                      <a:pt x="14352" y="1"/>
                    </a:cubicBezTo>
                    <a:close/>
                  </a:path>
                </a:pathLst>
              </a:custGeom>
              <a:solidFill>
                <a:srgbClr val="FFFFFF"/>
              </a:solidFill>
              <a:ln w="63500" cap="flat">
                <a:solidFill>
                  <a:srgbClr val="0433FF"/>
                </a:solidFill>
                <a:prstDash val="solid"/>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97" name="Inside Boundary"/>
              <p:cNvSpPr/>
              <p:nvPr/>
            </p:nvSpPr>
            <p:spPr>
              <a:xfrm rot="21600000">
                <a:off x="2777755" y="2839253"/>
                <a:ext cx="7003570" cy="2908559"/>
              </a:xfrm>
              <a:prstGeom prst="roundRect">
                <a:avLst>
                  <a:gd name="adj" fmla="val 48362"/>
                </a:avLst>
              </a:prstGeom>
              <a:solidFill>
                <a:srgbClr val="D6D6D6"/>
              </a:solidFill>
              <a:ln w="63500" cap="flat">
                <a:solidFill>
                  <a:srgbClr val="0433FF"/>
                </a:solidFill>
                <a:prstDash val="solid"/>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98" name="Pivot Line"/>
              <p:cNvSpPr/>
              <p:nvPr/>
            </p:nvSpPr>
            <p:spPr>
              <a:xfrm flipV="1">
                <a:off x="4273128" y="1273770"/>
                <a:ext cx="1" cy="156750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199" name="Jammer Line"/>
              <p:cNvSpPr/>
              <p:nvPr/>
            </p:nvSpPr>
            <p:spPr>
              <a:xfrm flipV="1">
                <a:off x="7752241" y="1094227"/>
                <a:ext cx="1" cy="172414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0" name="Line"/>
              <p:cNvSpPr/>
              <p:nvPr/>
            </p:nvSpPr>
            <p:spPr>
              <a:xfrm flipH="1" flipV="1">
                <a:off x="2972724" y="2285423"/>
                <a:ext cx="236214" cy="331828"/>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1" name="Line"/>
              <p:cNvSpPr/>
              <p:nvPr/>
            </p:nvSpPr>
            <p:spPr>
              <a:xfrm flipH="1" flipV="1">
                <a:off x="1938741" y="3581983"/>
                <a:ext cx="367218" cy="17552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2" name="Line"/>
              <p:cNvSpPr/>
              <p:nvPr/>
            </p:nvSpPr>
            <p:spPr>
              <a:xfrm flipH="1">
                <a:off x="1807594" y="4913211"/>
                <a:ext cx="403420" cy="53112"/>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3" name="Line"/>
              <p:cNvSpPr/>
              <p:nvPr/>
            </p:nvSpPr>
            <p:spPr>
              <a:xfrm flipV="1">
                <a:off x="2326198" y="6036457"/>
                <a:ext cx="295090" cy="280589"/>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4" name="Line"/>
              <p:cNvSpPr/>
              <p:nvPr/>
            </p:nvSpPr>
            <p:spPr>
              <a:xfrm flipV="1">
                <a:off x="3562137" y="6402810"/>
                <a:ext cx="60060" cy="403070"/>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5" name="Line"/>
              <p:cNvSpPr/>
              <p:nvPr/>
            </p:nvSpPr>
            <p:spPr>
              <a:xfrm flipV="1">
                <a:off x="4827424" y="6436112"/>
                <a:ext cx="1" cy="40753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6" name="Line"/>
              <p:cNvSpPr/>
              <p:nvPr/>
            </p:nvSpPr>
            <p:spPr>
              <a:xfrm flipV="1">
                <a:off x="5985975" y="6400577"/>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7" name="Line"/>
              <p:cNvSpPr/>
              <p:nvPr/>
            </p:nvSpPr>
            <p:spPr>
              <a:xfrm flipV="1">
                <a:off x="7162455" y="6400577"/>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8" name="Line"/>
              <p:cNvSpPr/>
              <p:nvPr/>
            </p:nvSpPr>
            <p:spPr>
              <a:xfrm flipV="1">
                <a:off x="8306354" y="6310788"/>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9" name="Line"/>
              <p:cNvSpPr/>
              <p:nvPr/>
            </p:nvSpPr>
            <p:spPr>
              <a:xfrm flipH="1" flipV="1">
                <a:off x="9386766" y="6025576"/>
                <a:ext cx="256065" cy="31671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0" name="Line"/>
              <p:cNvSpPr/>
              <p:nvPr/>
            </p:nvSpPr>
            <p:spPr>
              <a:xfrm flipH="1" flipV="1">
                <a:off x="10198986" y="5159146"/>
                <a:ext cx="379865" cy="146048"/>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1" name="Line"/>
              <p:cNvSpPr/>
              <p:nvPr/>
            </p:nvSpPr>
            <p:spPr>
              <a:xfrm flipH="1">
                <a:off x="10416597" y="3904147"/>
                <a:ext cx="396462" cy="9167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2" name="Line"/>
              <p:cNvSpPr/>
              <p:nvPr/>
            </p:nvSpPr>
            <p:spPr>
              <a:xfrm flipH="1">
                <a:off x="9898302" y="2649046"/>
                <a:ext cx="307084" cy="267366"/>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3" name="Line"/>
              <p:cNvSpPr/>
              <p:nvPr/>
            </p:nvSpPr>
            <p:spPr>
              <a:xfrm flipH="1">
                <a:off x="8933674" y="1882352"/>
                <a:ext cx="77639" cy="400046"/>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grpSp>
        <p:sp>
          <p:nvSpPr>
            <p:cNvPr id="215" name="Triangle"/>
            <p:cNvSpPr/>
            <p:nvPr/>
          </p:nvSpPr>
          <p:spPr>
            <a:xfrm rot="8756139">
              <a:off x="8864389" y="5521461"/>
              <a:ext cx="2535354" cy="12682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16" name="Line"/>
            <p:cNvSpPr/>
            <p:nvPr/>
          </p:nvSpPr>
          <p:spPr>
            <a:xfrm rot="18496556">
              <a:off x="1651203" y="2576918"/>
              <a:ext cx="4471770" cy="862974"/>
            </a:xfrm>
            <a:custGeom>
              <a:avLst/>
              <a:gdLst/>
              <a:ahLst/>
              <a:cxnLst>
                <a:cxn ang="0">
                  <a:pos x="wd2" y="hd2"/>
                </a:cxn>
                <a:cxn ang="5400000">
                  <a:pos x="wd2" y="hd2"/>
                </a:cxn>
                <a:cxn ang="10800000">
                  <a:pos x="wd2" y="hd2"/>
                </a:cxn>
                <a:cxn ang="16200000">
                  <a:pos x="wd2" y="hd2"/>
                </a:cxn>
              </a:cxnLst>
              <a:rect l="0" t="0" r="r" b="b"/>
              <a:pathLst>
                <a:path w="21600" h="20701" fill="norm" stroke="1" extrusionOk="0">
                  <a:moveTo>
                    <a:pt x="0" y="20701"/>
                  </a:moveTo>
                  <a:cubicBezTo>
                    <a:pt x="2097" y="16024"/>
                    <a:pt x="4259" y="12111"/>
                    <a:pt x="6470" y="8992"/>
                  </a:cubicBezTo>
                  <a:cubicBezTo>
                    <a:pt x="11386" y="2057"/>
                    <a:pt x="16495" y="-899"/>
                    <a:pt x="21600" y="237"/>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17" name="Line"/>
            <p:cNvSpPr/>
            <p:nvPr/>
          </p:nvSpPr>
          <p:spPr>
            <a:xfrm flipV="1">
              <a:off x="9760012" y="3298510"/>
              <a:ext cx="1881248" cy="2396354"/>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18" name="Line"/>
            <p:cNvSpPr/>
            <p:nvPr/>
          </p:nvSpPr>
          <p:spPr>
            <a:xfrm rot="16863997">
              <a:off x="7195720" y="2329150"/>
              <a:ext cx="4560007" cy="1954342"/>
            </a:xfrm>
            <a:custGeom>
              <a:avLst/>
              <a:gdLst/>
              <a:ahLst/>
              <a:cxnLst>
                <a:cxn ang="0">
                  <a:pos x="wd2" y="hd2"/>
                </a:cxn>
                <a:cxn ang="5400000">
                  <a:pos x="wd2" y="hd2"/>
                </a:cxn>
                <a:cxn ang="10800000">
                  <a:pos x="wd2" y="hd2"/>
                </a:cxn>
                <a:cxn ang="16200000">
                  <a:pos x="wd2" y="hd2"/>
                </a:cxn>
              </a:cxnLst>
              <a:rect l="0" t="0" r="r" b="b"/>
              <a:pathLst>
                <a:path w="21600" h="20897" fill="norm" stroke="1" extrusionOk="0">
                  <a:moveTo>
                    <a:pt x="0" y="18787"/>
                  </a:moveTo>
                  <a:cubicBezTo>
                    <a:pt x="3636" y="21529"/>
                    <a:pt x="7565" y="21600"/>
                    <a:pt x="11220" y="18990"/>
                  </a:cubicBezTo>
                  <a:cubicBezTo>
                    <a:pt x="15621" y="15847"/>
                    <a:pt x="19330" y="9062"/>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19" name="Circle"/>
            <p:cNvSpPr/>
            <p:nvPr/>
          </p:nvSpPr>
          <p:spPr>
            <a:xfrm rot="16200000">
              <a:off x="9687076" y="5568824"/>
              <a:ext cx="243141" cy="242845"/>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0" name="Triangle"/>
            <p:cNvSpPr/>
            <p:nvPr/>
          </p:nvSpPr>
          <p:spPr>
            <a:xfrm rot="10783748">
              <a:off x="7199826" y="6507382"/>
              <a:ext cx="2016095" cy="102350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1" name="Line"/>
            <p:cNvSpPr/>
            <p:nvPr/>
          </p:nvSpPr>
          <p:spPr>
            <a:xfrm rot="16398358">
              <a:off x="5554018" y="3006363"/>
              <a:ext cx="5637645" cy="1417070"/>
            </a:xfrm>
            <a:custGeom>
              <a:avLst/>
              <a:gdLst/>
              <a:ahLst/>
              <a:cxnLst>
                <a:cxn ang="0">
                  <a:pos x="wd2" y="hd2"/>
                </a:cxn>
                <a:cxn ang="5400000">
                  <a:pos x="wd2" y="hd2"/>
                </a:cxn>
                <a:cxn ang="10800000">
                  <a:pos x="wd2" y="hd2"/>
                </a:cxn>
                <a:cxn ang="16200000">
                  <a:pos x="wd2" y="hd2"/>
                </a:cxn>
              </a:cxnLst>
              <a:rect l="0" t="0" r="r" b="b"/>
              <a:pathLst>
                <a:path w="21600" h="20638" fill="norm" stroke="1" extrusionOk="0">
                  <a:moveTo>
                    <a:pt x="0" y="10385"/>
                  </a:moveTo>
                  <a:cubicBezTo>
                    <a:pt x="3136" y="18074"/>
                    <a:pt x="6855" y="21600"/>
                    <a:pt x="10575" y="20412"/>
                  </a:cubicBezTo>
                  <a:cubicBezTo>
                    <a:pt x="14792" y="19066"/>
                    <a:pt x="18724" y="11786"/>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2" name="Line"/>
            <p:cNvSpPr/>
            <p:nvPr/>
          </p:nvSpPr>
          <p:spPr>
            <a:xfrm rot="10516140">
              <a:off x="2648831" y="6784533"/>
              <a:ext cx="5636283" cy="59271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cubicBezTo>
                    <a:pt x="3226" y="18731"/>
                    <a:pt x="6459" y="16514"/>
                    <a:pt x="9695" y="14949"/>
                  </a:cubicBezTo>
                  <a:cubicBezTo>
                    <a:pt x="11840" y="13913"/>
                    <a:pt x="13988" y="13161"/>
                    <a:pt x="16119" y="10621"/>
                  </a:cubicBezTo>
                  <a:cubicBezTo>
                    <a:pt x="17972" y="8414"/>
                    <a:pt x="19804" y="4863"/>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3" name="Triangle"/>
            <p:cNvSpPr/>
            <p:nvPr/>
          </p:nvSpPr>
          <p:spPr>
            <a:xfrm rot="15176208">
              <a:off x="1285740" y="4695252"/>
              <a:ext cx="2087165" cy="110465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4" name="Line"/>
            <p:cNvSpPr/>
            <p:nvPr/>
          </p:nvSpPr>
          <p:spPr>
            <a:xfrm rot="16185044">
              <a:off x="995173" y="2713266"/>
              <a:ext cx="3904029" cy="731152"/>
            </a:xfrm>
            <a:custGeom>
              <a:avLst/>
              <a:gdLst/>
              <a:ahLst/>
              <a:cxnLst>
                <a:cxn ang="0">
                  <a:pos x="wd2" y="hd2"/>
                </a:cxn>
                <a:cxn ang="5400000">
                  <a:pos x="wd2" y="hd2"/>
                </a:cxn>
                <a:cxn ang="10800000">
                  <a:pos x="wd2" y="hd2"/>
                </a:cxn>
                <a:cxn ang="16200000">
                  <a:pos x="wd2" y="hd2"/>
                </a:cxn>
              </a:cxnLst>
              <a:rect l="0" t="0" r="r" b="b"/>
              <a:pathLst>
                <a:path w="21600" h="19741" fill="norm" stroke="1" extrusionOk="0">
                  <a:moveTo>
                    <a:pt x="0" y="6760"/>
                  </a:moveTo>
                  <a:cubicBezTo>
                    <a:pt x="4112" y="-287"/>
                    <a:pt x="8535" y="-1859"/>
                    <a:pt x="12812" y="2205"/>
                  </a:cubicBezTo>
                  <a:cubicBezTo>
                    <a:pt x="15949" y="5185"/>
                    <a:pt x="18935" y="11143"/>
                    <a:pt x="21600" y="19741"/>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5" name="Circle"/>
            <p:cNvSpPr/>
            <p:nvPr/>
          </p:nvSpPr>
          <p:spPr>
            <a:xfrm rot="16200000">
              <a:off x="2709511" y="4963306"/>
              <a:ext cx="243140" cy="242845"/>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6" name="Line"/>
            <p:cNvSpPr/>
            <p:nvPr/>
          </p:nvSpPr>
          <p:spPr>
            <a:xfrm>
              <a:off x="8227136" y="6529535"/>
              <a:ext cx="2397785" cy="730326"/>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27" name="Line"/>
            <p:cNvSpPr/>
            <p:nvPr/>
          </p:nvSpPr>
          <p:spPr>
            <a:xfrm flipH="1" flipV="1">
              <a:off x="1192647" y="2782009"/>
              <a:ext cx="1631634" cy="2256976"/>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28" name="Line"/>
            <p:cNvSpPr/>
            <p:nvPr/>
          </p:nvSpPr>
          <p:spPr>
            <a:xfrm rot="18496556">
              <a:off x="2809167" y="4212686"/>
              <a:ext cx="4738806" cy="4719490"/>
            </a:xfrm>
            <a:custGeom>
              <a:avLst/>
              <a:gdLst/>
              <a:ahLst/>
              <a:cxnLst>
                <a:cxn ang="0">
                  <a:pos x="wd2" y="hd2"/>
                </a:cxn>
                <a:cxn ang="5400000">
                  <a:pos x="wd2" y="hd2"/>
                </a:cxn>
                <a:cxn ang="10800000">
                  <a:pos x="wd2" y="hd2"/>
                </a:cxn>
                <a:cxn ang="16200000">
                  <a:pos x="wd2" y="hd2"/>
                </a:cxn>
              </a:cxnLst>
              <a:rect l="0" t="0" r="r" b="b"/>
              <a:pathLst>
                <a:path w="21482" h="21600" fill="norm" stroke="1" extrusionOk="0">
                  <a:moveTo>
                    <a:pt x="19126" y="21600"/>
                  </a:moveTo>
                  <a:cubicBezTo>
                    <a:pt x="20616" y="20585"/>
                    <a:pt x="21420" y="18876"/>
                    <a:pt x="21479" y="17053"/>
                  </a:cubicBezTo>
                  <a:cubicBezTo>
                    <a:pt x="21600" y="13242"/>
                    <a:pt x="18777" y="10487"/>
                    <a:pt x="16301" y="7865"/>
                  </a:cubicBezTo>
                  <a:cubicBezTo>
                    <a:pt x="14535" y="5995"/>
                    <a:pt x="12802" y="3910"/>
                    <a:pt x="10477" y="2447"/>
                  </a:cubicBezTo>
                  <a:cubicBezTo>
                    <a:pt x="7373" y="493"/>
                    <a:pt x="3654" y="8"/>
                    <a:pt x="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9" name="Circle"/>
            <p:cNvSpPr/>
            <p:nvPr/>
          </p:nvSpPr>
          <p:spPr>
            <a:xfrm rot="19190248">
              <a:off x="8082812" y="6458802"/>
              <a:ext cx="242968" cy="243018"/>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grpSp>
      <p:sp>
        <p:nvSpPr>
          <p:cNvPr id="231" name="Medical area location and emergency evacuation plan.…"/>
          <p:cNvSpPr txBox="1"/>
          <p:nvPr/>
        </p:nvSpPr>
        <p:spPr>
          <a:xfrm>
            <a:off x="668868" y="991259"/>
            <a:ext cx="5588001" cy="275133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Medical area location and emergency evacuation plan.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Immediate call-off scenarios:</a:t>
            </a:r>
          </a:p>
          <a:p>
            <a:pPr lvl="1" marL="317500" indent="-190500" algn="l">
              <a:buSzPct val="100000"/>
              <a:buChar char="•"/>
              <a:defRPr sz="1400">
                <a:solidFill>
                  <a:srgbClr val="000000"/>
                </a:solidFill>
                <a:latin typeface="Lucida Grande"/>
                <a:ea typeface="Lucida Grande"/>
                <a:cs typeface="Lucida Grande"/>
                <a:sym typeface="Lucida Grande"/>
              </a:defRPr>
            </a:pPr>
            <a:r>
              <a:t>Medics unavailable to observe gameplay.</a:t>
            </a:r>
          </a:p>
          <a:p>
            <a:pPr lvl="1" marL="317500" indent="-190500" algn="l">
              <a:buSzPct val="100000"/>
              <a:buChar char="•"/>
              <a:defRPr sz="1400">
                <a:solidFill>
                  <a:srgbClr val="000000"/>
                </a:solidFill>
                <a:latin typeface="Lucida Grande"/>
                <a:ea typeface="Lucida Grande"/>
                <a:cs typeface="Lucida Grande"/>
                <a:sym typeface="Lucida Grande"/>
              </a:defRPr>
            </a:pPr>
            <a:r>
              <a:t>Official clock or score failure/freeze.</a:t>
            </a:r>
          </a:p>
          <a:p>
            <a:pPr lvl="1" marL="317500" indent="-190500" algn="l">
              <a:buSzPct val="100000"/>
              <a:buChar char="•"/>
              <a:defRPr sz="1400">
                <a:solidFill>
                  <a:srgbClr val="000000"/>
                </a:solidFill>
                <a:latin typeface="Lucida Grande"/>
                <a:ea typeface="Lucida Grande"/>
                <a:cs typeface="Lucida Grande"/>
                <a:sym typeface="Lucida Grande"/>
              </a:defRPr>
            </a:pPr>
            <a:r>
              <a:t>Obvious player injury or any bleeding.</a:t>
            </a:r>
          </a:p>
          <a:p>
            <a:pPr lvl="1" marL="317500" indent="-190500" algn="l">
              <a:buSzPct val="100000"/>
              <a:buChar char="•"/>
              <a:defRPr sz="1400">
                <a:solidFill>
                  <a:srgbClr val="000000"/>
                </a:solidFill>
                <a:latin typeface="Lucida Grande"/>
                <a:ea typeface="Lucida Grande"/>
                <a:cs typeface="Lucida Grande"/>
                <a:sym typeface="Lucida Grande"/>
              </a:defRPr>
            </a:pPr>
            <a:r>
              <a:t>Loss of personal safety gear (mouthguard, helmet, etc.).</a:t>
            </a:r>
          </a:p>
          <a:p>
            <a:pPr lvl="1" marL="317500" indent="-190500" algn="l">
              <a:buSzPct val="100000"/>
              <a:buChar char="•"/>
              <a:defRPr sz="1400">
                <a:solidFill>
                  <a:srgbClr val="000000"/>
                </a:solidFill>
                <a:latin typeface="Lucida Grande"/>
                <a:ea typeface="Lucida Grande"/>
                <a:cs typeface="Lucida Grande"/>
                <a:sym typeface="Lucida Grande"/>
              </a:defRPr>
            </a:pPr>
            <a:r>
              <a:t>Possible player injury, without affirmative response to the question, “Can you continue?”</a:t>
            </a:r>
          </a:p>
          <a:p>
            <a:pPr lvl="1" marL="317500" indent="-190500" algn="l">
              <a:buSzPct val="100000"/>
              <a:buChar char="•"/>
              <a:defRPr sz="1400">
                <a:solidFill>
                  <a:srgbClr val="000000"/>
                </a:solidFill>
                <a:latin typeface="Lucida Grande"/>
                <a:ea typeface="Lucida Grande"/>
                <a:cs typeface="Lucida Grande"/>
                <a:sym typeface="Lucida Grande"/>
              </a:defRPr>
            </a:pPr>
            <a:r>
              <a:t>Player or non-player forcefully strikes their head on the ground or appears concussed.</a:t>
            </a:r>
          </a:p>
          <a:p>
            <a:pPr lvl="1" marL="317500" indent="-190500" algn="l">
              <a:buSzPct val="100000"/>
              <a:buChar char="•"/>
              <a:defRPr sz="1400">
                <a:solidFill>
                  <a:srgbClr val="000000"/>
                </a:solidFill>
                <a:latin typeface="Lucida Grande"/>
                <a:ea typeface="Lucida Grande"/>
                <a:cs typeface="Lucida Grande"/>
                <a:sym typeface="Lucida Grande"/>
              </a:defRPr>
            </a:pPr>
            <a:r>
              <a:t>Any </a:t>
            </a:r>
            <a:r>
              <a:rPr u="sng"/>
              <a:t>non-player</a:t>
            </a:r>
            <a:r>
              <a:t> goes to the ground and does not immediately and actively return upright.</a:t>
            </a:r>
          </a:p>
        </p:txBody>
      </p:sp>
      <p:sp>
        <p:nvSpPr>
          <p:cNvPr id="232" name="Game Administration"/>
          <p:cNvSpPr txBox="1"/>
          <p:nvPr/>
        </p:nvSpPr>
        <p:spPr>
          <a:xfrm>
            <a:off x="2235071" y="621836"/>
            <a:ext cx="2455595"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 Administration</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Line"/>
          <p:cNvSpPr/>
          <p:nvPr/>
        </p:nvSpPr>
        <p:spPr>
          <a:xfrm flipV="1">
            <a:off x="-1" y="6465261"/>
            <a:ext cx="24384002" cy="1"/>
          </a:xfrm>
          <a:prstGeom prst="line">
            <a:avLst/>
          </a:prstGeom>
          <a:ln w="25400" cap="rnd">
            <a:solidFill>
              <a:srgbClr val="000000"/>
            </a:solidFill>
            <a:custDash>
              <a:ds d="100000" sp="200000"/>
            </a:custDash>
          </a:ln>
        </p:spPr>
        <p:txBody>
          <a:bodyPr lIns="50800" tIns="50800" rIns="50800" bIns="50800" anchor="ctr"/>
          <a:lstStyle/>
          <a:p>
            <a:pPr/>
          </a:p>
        </p:txBody>
      </p:sp>
      <p:sp>
        <p:nvSpPr>
          <p:cNvPr id="235"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236" name="Rectangle"/>
          <p:cNvSpPr/>
          <p:nvPr/>
        </p:nvSpPr>
        <p:spPr>
          <a:xfrm>
            <a:off x="564752"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37" name="JRDA L2 gameplay can be difficult for players to play and for officials to officiate because contact that looks like normal derby gameplay can sometimes be illegal.…"/>
          <p:cNvSpPr txBox="1"/>
          <p:nvPr/>
        </p:nvSpPr>
        <p:spPr>
          <a:xfrm>
            <a:off x="676536" y="991259"/>
            <a:ext cx="5588001" cy="596248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JRDA L2 gameplay can be difficult for players to play and for officials to officiate because contact that looks like normal derby gameplay can sometimes be illegal.</a:t>
            </a:r>
          </a:p>
          <a:p>
            <a:pPr lvl="1" marL="317500" indent="-190500" algn="l">
              <a:buSzPct val="100000"/>
              <a:buChar char="•"/>
              <a:defRPr sz="1400">
                <a:solidFill>
                  <a:srgbClr val="000000"/>
                </a:solidFill>
                <a:latin typeface="Lucida Grande"/>
                <a:ea typeface="Lucida Grande"/>
                <a:cs typeface="Lucida Grande"/>
                <a:sym typeface="Lucida Grande"/>
              </a:defRPr>
            </a:pPr>
            <a:r>
              <a:t>Most players watch derby that allows full contact.</a:t>
            </a:r>
          </a:p>
          <a:p>
            <a:pPr lvl="1" marL="317500" indent="-190500" algn="l">
              <a:buSzPct val="100000"/>
              <a:buChar char="•"/>
              <a:defRPr sz="1400">
                <a:solidFill>
                  <a:srgbClr val="000000"/>
                </a:solidFill>
                <a:latin typeface="Lucida Grande"/>
                <a:ea typeface="Lucida Grande"/>
                <a:cs typeface="Lucida Grande"/>
                <a:sym typeface="Lucida Grande"/>
              </a:defRPr>
            </a:pPr>
            <a:r>
              <a:t>Most officials rarely officiate JRDA L2.</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JRDA L2 ruleset, forceful contact or “hitting” is illegal:</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Hitting usually occurs when two players moving at vastly different speeds make contact.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Making contact with any </a:t>
            </a:r>
            <a:r>
              <a:rPr u="sng"/>
              <a:t>swinging</a:t>
            </a:r>
            <a:r>
              <a:t> of the shoulders, hips, or other </a:t>
            </a:r>
            <a:r>
              <a:rPr u="sng"/>
              <a:t>legal</a:t>
            </a:r>
            <a:r>
              <a:t> blocking zones is hitting.</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penalize for hitting even when players make forceful contact with legal blocking zones to legal target zones.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penalize for hitting regardless of game impact.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penalty we issue for forceful contact is Illegal Contact with the verbal cue “hitting.”</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It is </a:t>
            </a:r>
            <a:r>
              <a:rPr u="sng"/>
              <a:t>legal</a:t>
            </a:r>
            <a:r>
              <a:t> for players to make non-forceful </a:t>
            </a:r>
            <a:r>
              <a:rPr u="sng"/>
              <a:t>initial</a:t>
            </a:r>
            <a:r>
              <a:t> contact, and then push with force using legal blocking zones on legal target zones.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Players may legally block by leaning on or pushing opposing players forcefully, as long as they do not stop their block and initiate a new block with forceful </a:t>
            </a:r>
            <a:r>
              <a:rPr u="sng"/>
              <a:t>initial</a:t>
            </a:r>
            <a:r>
              <a:t> contact.</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Note that it is </a:t>
            </a:r>
            <a:r>
              <a:rPr u="sng"/>
              <a:t>illegal</a:t>
            </a:r>
            <a:r>
              <a:t> for players to position themselves in a way that prevents opposing players from having the opportunity to </a:t>
            </a:r>
            <a:r>
              <a:rPr u="sng"/>
              <a:t>legally</a:t>
            </a:r>
            <a:r>
              <a:t> block them.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penalty that we issue in these cases is Illegal Position, with the verbal cue “Adopting an unblockable position.”</a:t>
            </a:r>
          </a:p>
        </p:txBody>
      </p:sp>
      <p:sp>
        <p:nvSpPr>
          <p:cNvPr id="238" name="JRDA L2-Specific Procedures Overvivew"/>
          <p:cNvSpPr txBox="1"/>
          <p:nvPr/>
        </p:nvSpPr>
        <p:spPr>
          <a:xfrm>
            <a:off x="1036837" y="602138"/>
            <a:ext cx="4867399"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JRDA L2-Specific Procedures Overvivew</a:t>
            </a:r>
          </a:p>
        </p:txBody>
      </p:sp>
      <p:sp>
        <p:nvSpPr>
          <p:cNvPr id="239" name="Blocker is legally blocking Jammer, discontinues their block momentarily, and initiates a new block by swinging their shoulders, hips, or other legal blocking zones.…"/>
          <p:cNvSpPr txBox="1"/>
          <p:nvPr/>
        </p:nvSpPr>
        <p:spPr>
          <a:xfrm>
            <a:off x="676536" y="7337063"/>
            <a:ext cx="5588001" cy="216516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is legally blocking Jammer, discontinues their block momentarily, and initiates a new block by swinging their shoulders, hips, or other legal blocking zones.</a:t>
            </a:r>
          </a:p>
          <a:p>
            <a:pPr lvl="1" marL="381000" indent="-254000" algn="l">
              <a:buSzPct val="100000"/>
              <a:buChar char="•"/>
              <a:defRPr sz="1400">
                <a:solidFill>
                  <a:srgbClr val="000000"/>
                </a:solidFill>
                <a:latin typeface="Lucida Grande"/>
                <a:ea typeface="Lucida Grande"/>
                <a:cs typeface="Lucida Grande"/>
                <a:sym typeface="Lucida Grande"/>
              </a:defRPr>
            </a:pPr>
            <a:r>
              <a:t>This is illegal regardless of game impact and will draw an Illegal Contact penalty for hitting.</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must make gentle/non-forceful initial contact with Jammer before leaning or pushing with force.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may legally disengage and re-engage their block as long as the initiation of each new block is non-forceful.</a:t>
            </a:r>
          </a:p>
        </p:txBody>
      </p:sp>
      <p:sp>
        <p:nvSpPr>
          <p:cNvPr id="240" name="Scenario #1 - Swinging of the Shoulders or Hips"/>
          <p:cNvSpPr txBox="1"/>
          <p:nvPr/>
        </p:nvSpPr>
        <p:spPr>
          <a:xfrm>
            <a:off x="713475" y="6947942"/>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#1 - Swinging of the Shoulders or Hips</a:t>
            </a:r>
          </a:p>
        </p:txBody>
      </p:sp>
      <p:sp>
        <p:nvSpPr>
          <p:cNvPr id="241" name="Jammer is navigating the pack with an established trajectory and Blocker moves to “catch” Jammer before they exit the pack and front engagement zone.…"/>
          <p:cNvSpPr txBox="1"/>
          <p:nvPr/>
        </p:nvSpPr>
        <p:spPr>
          <a:xfrm>
            <a:off x="6353436" y="991259"/>
            <a:ext cx="5588001" cy="292061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navigating the pack with an established trajectory and Blocker moves to “catch” Jammer before they exit the pack and front engagement zone.</a:t>
            </a:r>
          </a:p>
          <a:p>
            <a:pPr lvl="1" marL="317500" indent="-190500" algn="l">
              <a:buSzPct val="100000"/>
              <a:buChar char="•"/>
              <a:defRPr sz="1400">
                <a:solidFill>
                  <a:srgbClr val="000000"/>
                </a:solidFill>
                <a:latin typeface="Lucida Grande"/>
                <a:ea typeface="Lucida Grande"/>
                <a:cs typeface="Lucida Grande"/>
                <a:sym typeface="Lucida Grande"/>
              </a:defRPr>
            </a:pPr>
            <a:r>
              <a:t>“Catches” that initiate with forceful contact are illegal and will draw an Illegal Contact penalty for hitting regardless of game impact.</a:t>
            </a:r>
          </a:p>
          <a:p>
            <a:pPr lvl="1" marL="317500" indent="-190500" algn="l">
              <a:buSzPct val="100000"/>
              <a:buChar char="•"/>
              <a:defRPr sz="1400">
                <a:solidFill>
                  <a:srgbClr val="000000"/>
                </a:solidFill>
                <a:latin typeface="Lucida Grande"/>
                <a:ea typeface="Lucida Grande"/>
                <a:cs typeface="Lucida Grande"/>
                <a:sym typeface="Lucida Grande"/>
              </a:defRPr>
            </a:pPr>
            <a:r>
              <a:t>Blocker may legally “catch” Jammer with non-forceful contact, and then continue to legally block Jammer.</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allowed to brace for contact, although they may not initiate a forceful counter-block.</a:t>
            </a:r>
          </a:p>
          <a:p>
            <a:pPr lvl="1" marL="317500" indent="-190500" algn="l">
              <a:buSzPct val="100000"/>
              <a:buChar char="•"/>
              <a:defRPr sz="1400">
                <a:solidFill>
                  <a:srgbClr val="000000"/>
                </a:solidFill>
                <a:latin typeface="Lucida Grande"/>
                <a:ea typeface="Lucida Grande"/>
                <a:cs typeface="Lucida Grande"/>
                <a:sym typeface="Lucida Grande"/>
              </a:defRPr>
            </a:pPr>
            <a:r>
              <a:t>A forceful block by Blocker and a forceful counter-block by Jammer may result in Illegal Contact penalties for both players.</a:t>
            </a:r>
          </a:p>
        </p:txBody>
      </p:sp>
      <p:sp>
        <p:nvSpPr>
          <p:cNvPr id="242" name="Scenario #3 - Catching"/>
          <p:cNvSpPr txBox="1"/>
          <p:nvPr/>
        </p:nvSpPr>
        <p:spPr>
          <a:xfrm>
            <a:off x="6300795" y="602138"/>
            <a:ext cx="5514123"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#3 - Catching</a:t>
            </a:r>
          </a:p>
        </p:txBody>
      </p:sp>
      <p:sp>
        <p:nvSpPr>
          <p:cNvPr id="243" name="Jammer is navigating the pack with an established trajectory and Blocker positions themselves in Jammer’s path such that Jammer has no way to avoid making forceful contact to Blocker.…"/>
          <p:cNvSpPr txBox="1"/>
          <p:nvPr/>
        </p:nvSpPr>
        <p:spPr>
          <a:xfrm>
            <a:off x="6353436" y="4302527"/>
            <a:ext cx="5588001" cy="188047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navigating the pack with an established trajectory and Blocker positions themselves in Jammer’s path such that Jammer has no way to avoid making forceful contact to Blocker.</a:t>
            </a:r>
          </a:p>
          <a:p>
            <a:pPr lvl="1" marL="317500" indent="-190500" algn="l">
              <a:buSzPct val="100000"/>
              <a:buChar char="•"/>
              <a:defRPr sz="1400">
                <a:solidFill>
                  <a:srgbClr val="000000"/>
                </a:solidFill>
                <a:latin typeface="Lucida Grande"/>
                <a:ea typeface="Lucida Grande"/>
                <a:cs typeface="Lucida Grande"/>
                <a:sym typeface="Lucida Grande"/>
              </a:defRPr>
            </a:pPr>
            <a:r>
              <a:t>In this case, Blocker is responsible for initiating forceful contact, and we will penalize Blocker for Illegal Contact.</a:t>
            </a:r>
          </a:p>
          <a:p>
            <a:pPr lvl="1" marL="317500" indent="-190500" algn="l">
              <a:buSzPct val="100000"/>
              <a:buChar char="•"/>
              <a:defRPr sz="1400">
                <a:solidFill>
                  <a:srgbClr val="000000"/>
                </a:solidFill>
                <a:latin typeface="Lucida Grande"/>
                <a:ea typeface="Lucida Grande"/>
                <a:cs typeface="Lucida Grande"/>
                <a:sym typeface="Lucida Grande"/>
              </a:defRPr>
            </a:pPr>
            <a:r>
              <a:t>Blocker “moving into” this sort of contact is illegal, regardless of game impact.</a:t>
            </a:r>
          </a:p>
        </p:txBody>
      </p:sp>
      <p:sp>
        <p:nvSpPr>
          <p:cNvPr id="244" name="Scenario #4 - Initiation Determination B"/>
          <p:cNvSpPr txBox="1"/>
          <p:nvPr/>
        </p:nvSpPr>
        <p:spPr>
          <a:xfrm>
            <a:off x="6390375" y="3913406"/>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#4 - Initiation Determination B</a:t>
            </a:r>
          </a:p>
        </p:txBody>
      </p:sp>
      <p:sp>
        <p:nvSpPr>
          <p:cNvPr id="245" name="Jammer approaches a wall of blockers and initiates forceful contact with Blocker.  Blocker absorbs the contact without moving, and Jammer falls to the ground.…"/>
          <p:cNvSpPr txBox="1"/>
          <p:nvPr/>
        </p:nvSpPr>
        <p:spPr>
          <a:xfrm>
            <a:off x="676536" y="9896660"/>
            <a:ext cx="5588001" cy="148081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lvl1pPr marL="254000" indent="-254000" algn="l">
              <a:buSzPct val="100000"/>
              <a:buAutoNum type="arabicPeriod" startAt="1"/>
              <a:defRPr sz="1400">
                <a:solidFill>
                  <a:srgbClr val="000000"/>
                </a:solidFill>
                <a:latin typeface="Lucida Grande"/>
                <a:ea typeface="Lucida Grande"/>
                <a:cs typeface="Lucida Grande"/>
                <a:sym typeface="Lucida Grande"/>
              </a:defRPr>
            </a:lvl1pPr>
            <a:lvl2pPr marL="381000" indent="-254000" algn="l">
              <a:buSzPct val="100000"/>
              <a:buChar char="•"/>
              <a:defRPr sz="1400">
                <a:solidFill>
                  <a:srgbClr val="000000"/>
                </a:solidFill>
                <a:latin typeface="Lucida Grande"/>
                <a:ea typeface="Lucida Grande"/>
                <a:cs typeface="Lucida Grande"/>
                <a:sym typeface="Lucida Grande"/>
              </a:defRPr>
            </a:lvl2pPr>
          </a:lstStyle>
          <a:p>
            <a:pPr/>
            <a:r>
              <a:t>Jammer approaches a wall of blockers and initiates forceful contact with Blocker.  Blocker absorbs the contact without moving, and Jammer falls to the ground.</a:t>
            </a:r>
          </a:p>
          <a:p>
            <a:pPr lvl="1"/>
            <a:r>
              <a:t>In this case, we will penalize Jammer for initiating forceful contact, regardless of the blocking zone, target zone, or game impact to Blocker.</a:t>
            </a:r>
          </a:p>
        </p:txBody>
      </p:sp>
      <p:sp>
        <p:nvSpPr>
          <p:cNvPr id="246" name="Scenario #2 - Initiation Determination A"/>
          <p:cNvSpPr txBox="1"/>
          <p:nvPr/>
        </p:nvSpPr>
        <p:spPr>
          <a:xfrm>
            <a:off x="713476" y="9507539"/>
            <a:ext cx="5514122"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#2 - Initiation Determination A</a:t>
            </a:r>
          </a:p>
        </p:txBody>
      </p:sp>
      <p:sp>
        <p:nvSpPr>
          <p:cNvPr id="247" name="In the same situation as Scenario #4, we will allow Jammer to intentionally skate OOB to avoid forceful or potentially dangerous contact that would be unavoidable due to the way Blocker attempts to initiate a block.…"/>
          <p:cNvSpPr txBox="1"/>
          <p:nvPr/>
        </p:nvSpPr>
        <p:spPr>
          <a:xfrm>
            <a:off x="6353436" y="6567772"/>
            <a:ext cx="5588001" cy="252965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same situation as Scenario #4, we will allow Jammer to intentionally skate OOB to avoid forceful or potentially dangerous contact that would be unavoidable due to the way Blocker attempts to initiate a block.</a:t>
            </a:r>
          </a:p>
          <a:p>
            <a:pPr lvl="1" marL="317500" indent="-190500" algn="l">
              <a:buSzPct val="100000"/>
              <a:buChar char="•"/>
              <a:defRPr sz="1400">
                <a:solidFill>
                  <a:srgbClr val="000000"/>
                </a:solidFill>
                <a:latin typeface="Lucida Grande"/>
                <a:ea typeface="Lucida Grande"/>
                <a:cs typeface="Lucida Grande"/>
                <a:sym typeface="Lucida Grande"/>
              </a:defRPr>
            </a:pPr>
            <a:r>
              <a:t>In this case, we will not penalize Jammer and will instead issue an Illegal Position penalty to Blocker for adopting an unblockable position.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same scenario, if we determine that Blocker had an established position and Jammer would have been the initiator of forceful contact, we will penalize Jammer for Skating OOB.</a:t>
            </a:r>
          </a:p>
        </p:txBody>
      </p:sp>
      <p:sp>
        <p:nvSpPr>
          <p:cNvPr id="248" name="Scenario #5 - Skating OOB to Avoid Hitting"/>
          <p:cNvSpPr txBox="1"/>
          <p:nvPr/>
        </p:nvSpPr>
        <p:spPr>
          <a:xfrm>
            <a:off x="6390375" y="6178651"/>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#5 - Skating OOB to Avoid Hitting</a:t>
            </a:r>
          </a:p>
        </p:txBody>
      </p:sp>
      <p:sp>
        <p:nvSpPr>
          <p:cNvPr id="249" name="Jammer may approach the pack at any speed, although they are responsible for navigating the pack in a blockable position.…"/>
          <p:cNvSpPr txBox="1"/>
          <p:nvPr/>
        </p:nvSpPr>
        <p:spPr>
          <a:xfrm>
            <a:off x="6353436" y="9482201"/>
            <a:ext cx="5588001" cy="276635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may approach the pack at any speed, although they are responsible for navigating the pack in a blockable position.</a:t>
            </a:r>
          </a:p>
          <a:p>
            <a:pPr lvl="1" marL="317500" indent="-190500" algn="l">
              <a:buSzPct val="100000"/>
              <a:buChar char="•"/>
              <a:defRPr sz="1400">
                <a:solidFill>
                  <a:srgbClr val="000000"/>
                </a:solidFill>
                <a:latin typeface="Lucida Grande"/>
                <a:ea typeface="Lucida Grande"/>
                <a:cs typeface="Lucida Grande"/>
                <a:sym typeface="Lucida Grande"/>
              </a:defRPr>
            </a:pPr>
            <a:r>
              <a:t>If Jammer navigates the pack at a speed that does not allow opposing players to legally block Jammer, we will penalize Jammer for adopting an unblockable position.</a:t>
            </a:r>
          </a:p>
          <a:p>
            <a:pPr lvl="1" marL="317500" indent="-190500" algn="l">
              <a:buSzPct val="100000"/>
              <a:buChar char="•"/>
              <a:defRPr sz="1400">
                <a:solidFill>
                  <a:srgbClr val="000000"/>
                </a:solidFill>
                <a:latin typeface="Lucida Grande"/>
                <a:ea typeface="Lucida Grande"/>
                <a:cs typeface="Lucida Grande"/>
                <a:sym typeface="Lucida Grande"/>
              </a:defRPr>
            </a:pPr>
            <a:r>
              <a:t>However, if no opposing player could have possibly positioned themselves to block Jammer when Jammer navigates the pack, either due to the positioning of opposing players or the blocking technique of Jammer’s teammates, we may determine Jammer did not adopt an unblockable position, regardless of their speed.</a:t>
            </a:r>
          </a:p>
        </p:txBody>
      </p:sp>
      <p:sp>
        <p:nvSpPr>
          <p:cNvPr id="250" name="Scenario #6 - Navigating the Pack at High Speed"/>
          <p:cNvSpPr txBox="1"/>
          <p:nvPr/>
        </p:nvSpPr>
        <p:spPr>
          <a:xfrm>
            <a:off x="6390375" y="9093079"/>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#6 - Navigating the Pack at High Speed</a:t>
            </a:r>
          </a:p>
        </p:txBody>
      </p:sp>
      <p:sp>
        <p:nvSpPr>
          <p:cNvPr id="251" name="JRDA L2-Specific Procedures"/>
          <p:cNvSpPr txBox="1"/>
          <p:nvPr/>
        </p:nvSpPr>
        <p:spPr>
          <a:xfrm>
            <a:off x="3176587" y="138369"/>
            <a:ext cx="6264799"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JRDA L2-Specific Procedures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